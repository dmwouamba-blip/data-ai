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4459B5-36D1-E13D-A71F-5D8621B1DC89}">
          <p14:sldIdLst>
            <p14:sldId id="256"/>
          </p14:sldIdLst>
        </p14:section>
        <p14:section name="Our answer" id="{3D2AAFAC-05C5-D642-BE89-8960B1F4D15E}">
          <p14:sldIdLst>
            <p14:sldId id="257"/>
            <p14:sldId id="258"/>
            <p14:sldId id="259"/>
          </p14:sldIdLst>
        </p14:section>
        <p14:section name="Next steps" id="{68019480-14C3-BF7F-81A4-3445B97CFCF3}">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23C137-E9BF-4381-B14B-B5E385C95839}" v="1" dt="2026-10-08T12:35:01.8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6058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In the next three minutes I'll show how we move from fragmented diabetes data and isolated AI pilots to AI at scale, built on governed data products.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asks connect through one foundation: shared platform and AI services; owned, contract-backed products; and diabetes-focused value slices spanning patient, device, clinical and consent data. Industrializing the common foundation makes each new use case faster, safer and more reusable.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flow is: extract and normalize measurements and documents; enrich identity, terminology and reusable AI context; productize governed assets such as Patient Diabetes 360; activate them through shared model, RAG, feature and evaluation services; then improve through clinical and steward review. This is an architectural pattern, not a clinical decision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reusable core products for identity, glucose, device and consent. Build derived products such as Patient Diabetes 360 and Glucose Timeline, then analytical products for outcomes, cohorts, engagement and AI evaluation. Every product is discoverable, addressable, trustworthy, self-describing, interoperable, secure, owned, valuable and AI-ready.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Move in three horizons: assess and design the target state; prove a controlled vertical MVP around CGM, consent, Glucose Timeline and Patient Diabetes 360; then scale across clinical, therapy, research and operations domains. Measure reuse, launch speed, business value, trust and operational readiness.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51560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749040"/>
            <a:ext cx="10515600" cy="1097280"/>
          </a:xfrm>
          <a:prstGeom prst="rect">
            <a:avLst/>
          </a:prstGeom>
          <a:noFill/>
          <a:ln/>
        </p:spPr>
        <p:txBody>
          <a:bodyPr wrap="square" rtlCol="0"/>
          <a:lstStyle>
            <a:lvl1pPr marL="0" indent="0" algn="l">
              <a:buNone/>
              <a:defRPr lang="en-US" sz="1800" dirty="0">
                <a:solidFill>
                  <a:schemeClr val="accent5"/>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8686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sp>
        <p:nvSpPr>
          <p:cNvPr id="2" name="Text 0"/>
          <p:cNvSpPr>
            <a:spLocks noGrp="1"/>
          </p:cNvSpPr>
          <p:nvPr>
            <p:ph type="title" idx="100" hasCustomPrompt="1"/>
          </p:nvPr>
        </p:nvSpPr>
        <p:spPr>
          <a:xfrm>
            <a:off x="731520" y="2103120"/>
            <a:ext cx="10515600" cy="1463040"/>
          </a:xfrm>
          <a:prstGeom prst="rect">
            <a:avLst/>
          </a:prstGeom>
          <a:noFill/>
          <a:ln/>
        </p:spPr>
        <p:txBody>
          <a:bodyPr wrap="square" lIns="0" tIns="0" rIns="0" bIns="0" rtlCol="0" anchor="b"/>
          <a:lstStyle/>
          <a:p>
            <a:pPr marL="0" indent="0" algn="l">
              <a:buNone/>
            </a:pPr>
            <a:r>
              <a:rPr lang="en-US" sz="4400" b="1" dirty="0">
                <a:solidFill>
                  <a:schemeClr val="bg1"/>
                </a:solidFill>
              </a:rPr>
              <a:t>Data products for AI at scale</a:t>
            </a:r>
            <a:endParaRPr lang="en-US" sz="4400" dirty="0"/>
          </a:p>
        </p:txBody>
      </p:sp>
      <p:sp>
        <p:nvSpPr>
          <p:cNvPr id="3" name="Text 0"/>
          <p:cNvSpPr>
            <a:spLocks noGrp="1"/>
          </p:cNvSpPr>
          <p:nvPr>
            <p:ph type="body" idx="101" hasCustomPrompt="1"/>
          </p:nvPr>
        </p:nvSpPr>
        <p:spPr>
          <a:xfrm>
            <a:off x="731520" y="3749040"/>
            <a:ext cx="10515600" cy="1097280"/>
          </a:xfrm>
          <a:prstGeom prst="rect">
            <a:avLst/>
          </a:prstGeom>
          <a:noFill/>
          <a:ln/>
        </p:spPr>
        <p:txBody>
          <a:bodyPr wrap="square" lIns="0" tIns="0" rIns="0" bIns="0" rtlCol="0" anchor="t"/>
          <a:lstStyle/>
          <a:p>
            <a:pPr marL="0" indent="0" algn="l">
              <a:buNone/>
            </a:pPr>
            <a:r>
              <a:rPr lang="en-US" sz="1800" dirty="0">
                <a:solidFill>
                  <a:schemeClr val="accent5"/>
                </a:solidFill>
              </a:rPr>
              <a:t>Powering an Integrated Data Platform for Diabetes Management  </a:t>
            </a:r>
          </a:p>
          <a:p>
            <a:pPr marL="0" indent="0" algn="l">
              <a:buNone/>
            </a:pPr>
            <a:endParaRPr lang="en-US" dirty="0"/>
          </a:p>
        </p:txBody>
      </p:sp>
      <p:sp>
        <p:nvSpPr>
          <p:cNvPr id="5" name="TextBox 4">
            <a:extLst>
              <a:ext uri="{FF2B5EF4-FFF2-40B4-BE49-F238E27FC236}">
                <a16:creationId xmlns:a16="http://schemas.microsoft.com/office/drawing/2014/main" id="{95467143-1EB4-8932-C980-D9C5FB5BC94B}"/>
              </a:ext>
            </a:extLst>
          </p:cNvPr>
          <p:cNvSpPr txBox="1"/>
          <p:nvPr/>
        </p:nvSpPr>
        <p:spPr>
          <a:xfrm>
            <a:off x="3116292" y="397617"/>
            <a:ext cx="6094562" cy="369332"/>
          </a:xfrm>
          <a:prstGeom prst="rect">
            <a:avLst/>
          </a:prstGeom>
          <a:noFill/>
        </p:spPr>
        <p:txBody>
          <a:bodyPr wrap="square">
            <a:spAutoFit/>
          </a:bodyPr>
          <a:lstStyle/>
          <a:p>
            <a:r>
              <a:rPr lang="en-GB" sz="1800" dirty="0">
                <a:solidFill>
                  <a:schemeClr val="bg1"/>
                </a:solidFill>
              </a:rPr>
              <a:t>Data Products for Industry &amp; Advanced AI-Technical</a:t>
            </a:r>
            <a:endParaRPr lang="en-US" sz="1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a:spLocks noGrp="1"/>
          </p:cNvSpPr>
          <p:nvPr>
            <p:ph type="title" idx="100" hasCustomPrompt="1"/>
          </p:nvPr>
        </p:nvSpPr>
        <p:spPr>
          <a:xfrm>
            <a:off x="457200" y="274320"/>
            <a:ext cx="11247120" cy="868680"/>
          </a:xfrm>
          <a:prstGeom prst="rect">
            <a:avLst/>
          </a:prstGeom>
          <a:noFill/>
          <a:ln/>
        </p:spPr>
        <p:txBody>
          <a:bodyPr wrap="square" lIns="0" tIns="0" rIns="0" bIns="0" rtlCol="0" anchor="ctr"/>
          <a:lstStyle/>
          <a:p>
            <a:pPr marL="0" indent="0" algn="l">
              <a:buNone/>
            </a:pPr>
            <a:r>
              <a:rPr lang="en-US" sz="2800" b="1" dirty="0">
                <a:solidFill>
                  <a:schemeClr val="tx1"/>
                </a:solidFill>
              </a:rPr>
              <a:t>Three client asks, one connected answer</a:t>
            </a:r>
            <a:endParaRPr lang="en-US" sz="2800" dirty="0"/>
          </a:p>
        </p:txBody>
      </p:sp>
      <p:sp>
        <p:nvSpPr>
          <p:cNvPr id="3" name="Card 1"/>
          <p:cNvSpPr/>
          <p:nvPr/>
        </p:nvSpPr>
        <p:spPr>
          <a:xfrm>
            <a:off x="548640" y="1463040"/>
            <a:ext cx="3474720" cy="3383280"/>
          </a:xfrm>
          <a:prstGeom prst="rect">
            <a:avLst/>
          </a:prstGeom>
          <a:solidFill>
            <a:schemeClr val="bg2"/>
          </a:solidFill>
          <a:ln w="12700">
            <a:solidFill>
              <a:schemeClr val="bg2"/>
            </a:solidFill>
            <a:prstDash val="solid"/>
          </a:ln>
        </p:spPr>
        <p:txBody>
          <a:bodyPr/>
          <a:lstStyle/>
          <a:p>
            <a:endParaRPr lang="en-GB"/>
          </a:p>
        </p:txBody>
      </p:sp>
      <p:sp>
        <p:nvSpPr>
          <p:cNvPr id="4" name="Card 1 icon circle"/>
          <p:cNvSpPr/>
          <p:nvPr/>
        </p:nvSpPr>
        <p:spPr>
          <a:xfrm>
            <a:off x="868680" y="1783080"/>
            <a:ext cx="731520" cy="731520"/>
          </a:xfrm>
          <a:prstGeom prst="ellipse">
            <a:avLst/>
          </a:prstGeom>
          <a:solidFill>
            <a:schemeClr val="accent1"/>
          </a:solidFill>
          <a:ln w="12700">
            <a:solidFill>
              <a:schemeClr val="accent1"/>
            </a:solidFill>
            <a:prstDash val="solid"/>
          </a:ln>
        </p:spPr>
        <p:txBody>
          <a:bodyPr/>
          <a:lstStyle/>
          <a:p>
            <a:endParaRPr lang="en-GB"/>
          </a:p>
        </p:txBody>
      </p:sp>
      <p:pic>
        <p:nvPicPr>
          <p:cNvPr id="5" name="Card 1 icon" descr="Anticipate the needs for AI at scale"/>
          <p:cNvPicPr>
            <a:picLocks noChangeAspect="1"/>
          </p:cNvPicPr>
          <p:nvPr/>
        </p:nvPicPr>
        <p:blipFill>
          <a:blip r:embed="rId3"/>
          <a:stretch>
            <a:fillRect/>
          </a:stretch>
        </p:blipFill>
        <p:spPr>
          <a:xfrm>
            <a:off x="1005840" y="1920240"/>
            <a:ext cx="457200" cy="457200"/>
          </a:xfrm>
          <a:prstGeom prst="rect">
            <a:avLst/>
          </a:prstGeom>
        </p:spPr>
      </p:pic>
      <p:sp>
        <p:nvSpPr>
          <p:cNvPr id="6" name="Card 1 ask label"/>
          <p:cNvSpPr txBox="1"/>
          <p:nvPr/>
        </p:nvSpPr>
        <p:spPr>
          <a:xfrm>
            <a:off x="868680" y="2697480"/>
            <a:ext cx="2834640" cy="274320"/>
          </a:xfrm>
          <a:prstGeom prst="rect">
            <a:avLst/>
          </a:prstGeom>
          <a:noFill/>
          <a:ln/>
        </p:spPr>
        <p:txBody>
          <a:bodyPr wrap="square" lIns="0" tIns="0" rIns="0" bIns="0" rtlCol="0" anchor="ctr"/>
          <a:lstStyle/>
          <a:p>
            <a:pPr marL="0" indent="0">
              <a:buNone/>
            </a:pPr>
            <a:r>
              <a:rPr lang="en-US" sz="1100" b="1" kern="0" spc="100" dirty="0">
                <a:solidFill>
                  <a:schemeClr val="accent6"/>
                </a:solidFill>
              </a:rPr>
              <a:t>CLIENT ASK</a:t>
            </a:r>
            <a:endParaRPr lang="en-US" sz="1100" dirty="0"/>
          </a:p>
        </p:txBody>
      </p:sp>
      <p:sp>
        <p:nvSpPr>
          <p:cNvPr id="7" name="Card 1 ask"/>
          <p:cNvSpPr txBox="1"/>
          <p:nvPr/>
        </p:nvSpPr>
        <p:spPr>
          <a:xfrm>
            <a:off x="868680" y="2971800"/>
            <a:ext cx="2834640" cy="731520"/>
          </a:xfrm>
          <a:prstGeom prst="rect">
            <a:avLst/>
          </a:prstGeom>
          <a:noFill/>
          <a:ln/>
        </p:spPr>
        <p:txBody>
          <a:bodyPr wrap="square" lIns="0" tIns="0" rIns="0" bIns="0" rtlCol="0" anchor="t"/>
          <a:lstStyle/>
          <a:p>
            <a:pPr marL="0" indent="0">
              <a:buNone/>
            </a:pPr>
            <a:r>
              <a:rPr lang="en-US" sz="1700" b="1" dirty="0">
                <a:solidFill>
                  <a:schemeClr val="tx1"/>
                </a:solidFill>
              </a:rPr>
              <a:t>Anticipate the needs for AI at scale</a:t>
            </a:r>
            <a:endParaRPr lang="en-US" sz="1700" dirty="0"/>
          </a:p>
        </p:txBody>
      </p:sp>
      <p:sp>
        <p:nvSpPr>
          <p:cNvPr id="8" name="Card 1 response label"/>
          <p:cNvSpPr txBox="1"/>
          <p:nvPr/>
        </p:nvSpPr>
        <p:spPr>
          <a:xfrm>
            <a:off x="868680" y="3840480"/>
            <a:ext cx="283464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OUR RESPONSE</a:t>
            </a:r>
            <a:endParaRPr lang="en-US" sz="1100" dirty="0"/>
          </a:p>
        </p:txBody>
      </p:sp>
      <p:sp>
        <p:nvSpPr>
          <p:cNvPr id="9" name="Card 1 response"/>
          <p:cNvSpPr txBox="1"/>
          <p:nvPr/>
        </p:nvSpPr>
        <p:spPr>
          <a:xfrm>
            <a:off x="868680" y="4114800"/>
            <a:ext cx="2834640" cy="1005840"/>
          </a:xfrm>
          <a:prstGeom prst="rect">
            <a:avLst/>
          </a:prstGeom>
          <a:noFill/>
          <a:ln/>
        </p:spPr>
        <p:txBody>
          <a:bodyPr wrap="square" lIns="0" tIns="0" rIns="0" bIns="0" rtlCol="0" anchor="t"/>
          <a:lstStyle/>
          <a:p>
            <a:pPr marL="0" indent="0">
              <a:buNone/>
            </a:pPr>
            <a:r>
              <a:rPr lang="en-US" sz="1400" dirty="0">
                <a:solidFill>
                  <a:schemeClr val="tx1"/>
                </a:solidFill>
              </a:rPr>
              <a:t>Shared enablers: one data platform, a common AI layer and federated governance</a:t>
            </a:r>
            <a:endParaRPr lang="en-US" sz="1400" dirty="0"/>
          </a:p>
        </p:txBody>
      </p:sp>
      <p:sp>
        <p:nvSpPr>
          <p:cNvPr id="10" name="Card 2"/>
          <p:cNvSpPr/>
          <p:nvPr/>
        </p:nvSpPr>
        <p:spPr>
          <a:xfrm>
            <a:off x="4343400" y="1463040"/>
            <a:ext cx="3474720" cy="3383280"/>
          </a:xfrm>
          <a:prstGeom prst="rect">
            <a:avLst/>
          </a:prstGeom>
          <a:solidFill>
            <a:schemeClr val="bg2"/>
          </a:solidFill>
          <a:ln w="12700">
            <a:solidFill>
              <a:schemeClr val="bg2"/>
            </a:solidFill>
            <a:prstDash val="solid"/>
          </a:ln>
        </p:spPr>
        <p:txBody>
          <a:bodyPr/>
          <a:lstStyle/>
          <a:p>
            <a:endParaRPr lang="en-GB"/>
          </a:p>
        </p:txBody>
      </p:sp>
      <p:sp>
        <p:nvSpPr>
          <p:cNvPr id="11" name="Card 2 icon circle"/>
          <p:cNvSpPr/>
          <p:nvPr/>
        </p:nvSpPr>
        <p:spPr>
          <a:xfrm>
            <a:off x="4663440" y="1783080"/>
            <a:ext cx="731520" cy="731520"/>
          </a:xfrm>
          <a:prstGeom prst="ellipse">
            <a:avLst/>
          </a:prstGeom>
          <a:solidFill>
            <a:schemeClr val="accent1"/>
          </a:solidFill>
          <a:ln w="12700">
            <a:solidFill>
              <a:schemeClr val="accent1"/>
            </a:solidFill>
            <a:prstDash val="solid"/>
          </a:ln>
        </p:spPr>
        <p:txBody>
          <a:bodyPr/>
          <a:lstStyle/>
          <a:p>
            <a:endParaRPr lang="en-GB"/>
          </a:p>
        </p:txBody>
      </p:sp>
      <p:pic>
        <p:nvPicPr>
          <p:cNvPr id="12" name="Card 2 icon" descr="Establish a Data as a Product model"/>
          <p:cNvPicPr>
            <a:picLocks noChangeAspect="1"/>
          </p:cNvPicPr>
          <p:nvPr/>
        </p:nvPicPr>
        <p:blipFill>
          <a:blip r:embed="rId4"/>
          <a:stretch>
            <a:fillRect/>
          </a:stretch>
        </p:blipFill>
        <p:spPr>
          <a:xfrm>
            <a:off x="4800600" y="1920240"/>
            <a:ext cx="457200" cy="457200"/>
          </a:xfrm>
          <a:prstGeom prst="rect">
            <a:avLst/>
          </a:prstGeom>
        </p:spPr>
      </p:pic>
      <p:sp>
        <p:nvSpPr>
          <p:cNvPr id="13" name="Card 2 ask label"/>
          <p:cNvSpPr txBox="1"/>
          <p:nvPr/>
        </p:nvSpPr>
        <p:spPr>
          <a:xfrm>
            <a:off x="4663440" y="2697480"/>
            <a:ext cx="2834640" cy="274320"/>
          </a:xfrm>
          <a:prstGeom prst="rect">
            <a:avLst/>
          </a:prstGeom>
          <a:noFill/>
          <a:ln/>
        </p:spPr>
        <p:txBody>
          <a:bodyPr wrap="square" lIns="0" tIns="0" rIns="0" bIns="0" rtlCol="0" anchor="ctr"/>
          <a:lstStyle/>
          <a:p>
            <a:pPr marL="0" indent="0">
              <a:buNone/>
            </a:pPr>
            <a:r>
              <a:rPr lang="en-US" sz="1100" b="1" kern="0" spc="100" dirty="0">
                <a:solidFill>
                  <a:schemeClr val="accent6"/>
                </a:solidFill>
              </a:rPr>
              <a:t>CLIENT ASK</a:t>
            </a:r>
            <a:endParaRPr lang="en-US" sz="1100" dirty="0"/>
          </a:p>
        </p:txBody>
      </p:sp>
      <p:sp>
        <p:nvSpPr>
          <p:cNvPr id="14" name="Card 2 ask"/>
          <p:cNvSpPr txBox="1"/>
          <p:nvPr/>
        </p:nvSpPr>
        <p:spPr>
          <a:xfrm>
            <a:off x="4663440" y="2971800"/>
            <a:ext cx="2834640" cy="731520"/>
          </a:xfrm>
          <a:prstGeom prst="rect">
            <a:avLst/>
          </a:prstGeom>
          <a:noFill/>
          <a:ln/>
        </p:spPr>
        <p:txBody>
          <a:bodyPr wrap="square" lIns="0" tIns="0" rIns="0" bIns="0" rtlCol="0" anchor="t"/>
          <a:lstStyle/>
          <a:p>
            <a:pPr marL="0" indent="0">
              <a:buNone/>
            </a:pPr>
            <a:r>
              <a:rPr lang="en-US" sz="1700" b="1" dirty="0">
                <a:solidFill>
                  <a:schemeClr val="tx1"/>
                </a:solidFill>
              </a:rPr>
              <a:t>Establish a Data as a Product model</a:t>
            </a:r>
            <a:endParaRPr lang="en-US" sz="1700" dirty="0"/>
          </a:p>
        </p:txBody>
      </p:sp>
      <p:sp>
        <p:nvSpPr>
          <p:cNvPr id="15" name="Card 2 response label"/>
          <p:cNvSpPr txBox="1"/>
          <p:nvPr/>
        </p:nvSpPr>
        <p:spPr>
          <a:xfrm>
            <a:off x="4663440" y="3840480"/>
            <a:ext cx="283464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OUR RESPONSE</a:t>
            </a:r>
            <a:endParaRPr lang="en-US" sz="1100" dirty="0"/>
          </a:p>
        </p:txBody>
      </p:sp>
      <p:sp>
        <p:nvSpPr>
          <p:cNvPr id="16" name="Card 2 response"/>
          <p:cNvSpPr txBox="1"/>
          <p:nvPr/>
        </p:nvSpPr>
        <p:spPr>
          <a:xfrm>
            <a:off x="4663440" y="4114800"/>
            <a:ext cx="2834640" cy="1005840"/>
          </a:xfrm>
          <a:prstGeom prst="rect">
            <a:avLst/>
          </a:prstGeom>
          <a:noFill/>
          <a:ln/>
        </p:spPr>
        <p:txBody>
          <a:bodyPr wrap="square" lIns="0" tIns="0" rIns="0" bIns="0" rtlCol="0" anchor="t"/>
          <a:lstStyle/>
          <a:p>
            <a:pPr marL="0" indent="0">
              <a:buNone/>
            </a:pPr>
            <a:r>
              <a:rPr lang="en-US" sz="1400" dirty="0">
                <a:solidFill>
                  <a:schemeClr val="tx1"/>
                </a:solidFill>
              </a:rPr>
              <a:t>Owned, contract-backed data products that all meet a common set of traits</a:t>
            </a:r>
            <a:endParaRPr lang="en-US" sz="1400" dirty="0"/>
          </a:p>
        </p:txBody>
      </p:sp>
      <p:sp>
        <p:nvSpPr>
          <p:cNvPr id="17" name="Card 3"/>
          <p:cNvSpPr/>
          <p:nvPr/>
        </p:nvSpPr>
        <p:spPr>
          <a:xfrm>
            <a:off x="8138160" y="1463040"/>
            <a:ext cx="3474720" cy="3383280"/>
          </a:xfrm>
          <a:prstGeom prst="rect">
            <a:avLst/>
          </a:prstGeom>
          <a:solidFill>
            <a:schemeClr val="bg2"/>
          </a:solidFill>
          <a:ln w="12700">
            <a:solidFill>
              <a:schemeClr val="bg2"/>
            </a:solidFill>
            <a:prstDash val="solid"/>
          </a:ln>
        </p:spPr>
        <p:txBody>
          <a:bodyPr/>
          <a:lstStyle/>
          <a:p>
            <a:endParaRPr lang="en-GB"/>
          </a:p>
        </p:txBody>
      </p:sp>
      <p:sp>
        <p:nvSpPr>
          <p:cNvPr id="18" name="Card 3 icon circle"/>
          <p:cNvSpPr/>
          <p:nvPr/>
        </p:nvSpPr>
        <p:spPr>
          <a:xfrm>
            <a:off x="8458200" y="1783080"/>
            <a:ext cx="731520" cy="731520"/>
          </a:xfrm>
          <a:prstGeom prst="ellipse">
            <a:avLst/>
          </a:prstGeom>
          <a:solidFill>
            <a:schemeClr val="accent1"/>
          </a:solidFill>
          <a:ln w="12700">
            <a:solidFill>
              <a:schemeClr val="accent1"/>
            </a:solidFill>
            <a:prstDash val="solid"/>
          </a:ln>
        </p:spPr>
        <p:txBody>
          <a:bodyPr/>
          <a:lstStyle/>
          <a:p>
            <a:endParaRPr lang="en-GB"/>
          </a:p>
        </p:txBody>
      </p:sp>
      <p:pic>
        <p:nvPicPr>
          <p:cNvPr id="19" name="Card 3 icon" descr="Accelerate capabilities with industry insight"/>
          <p:cNvPicPr>
            <a:picLocks noChangeAspect="1"/>
          </p:cNvPicPr>
          <p:nvPr/>
        </p:nvPicPr>
        <p:blipFill>
          <a:blip r:embed="rId5"/>
          <a:stretch>
            <a:fillRect/>
          </a:stretch>
        </p:blipFill>
        <p:spPr>
          <a:xfrm>
            <a:off x="8595360" y="1920240"/>
            <a:ext cx="457200" cy="457200"/>
          </a:xfrm>
          <a:prstGeom prst="rect">
            <a:avLst/>
          </a:prstGeom>
        </p:spPr>
      </p:pic>
      <p:sp>
        <p:nvSpPr>
          <p:cNvPr id="20" name="Card 3 ask label"/>
          <p:cNvSpPr txBox="1"/>
          <p:nvPr/>
        </p:nvSpPr>
        <p:spPr>
          <a:xfrm>
            <a:off x="8458200" y="2697480"/>
            <a:ext cx="2834640" cy="274320"/>
          </a:xfrm>
          <a:prstGeom prst="rect">
            <a:avLst/>
          </a:prstGeom>
          <a:noFill/>
          <a:ln/>
        </p:spPr>
        <p:txBody>
          <a:bodyPr wrap="square" lIns="0" tIns="0" rIns="0" bIns="0" rtlCol="0" anchor="ctr"/>
          <a:lstStyle/>
          <a:p>
            <a:pPr marL="0" indent="0">
              <a:buNone/>
            </a:pPr>
            <a:r>
              <a:rPr lang="en-US" sz="1100" b="1" kern="0" spc="100" dirty="0">
                <a:solidFill>
                  <a:schemeClr val="accent6"/>
                </a:solidFill>
              </a:rPr>
              <a:t>CLIENT ASK</a:t>
            </a:r>
            <a:endParaRPr lang="en-US" sz="1100" dirty="0"/>
          </a:p>
        </p:txBody>
      </p:sp>
      <p:sp>
        <p:nvSpPr>
          <p:cNvPr id="21" name="Card 3 ask"/>
          <p:cNvSpPr txBox="1"/>
          <p:nvPr/>
        </p:nvSpPr>
        <p:spPr>
          <a:xfrm>
            <a:off x="8458200" y="2971800"/>
            <a:ext cx="2834640" cy="731520"/>
          </a:xfrm>
          <a:prstGeom prst="rect">
            <a:avLst/>
          </a:prstGeom>
          <a:noFill/>
          <a:ln/>
        </p:spPr>
        <p:txBody>
          <a:bodyPr wrap="square" lIns="0" tIns="0" rIns="0" bIns="0" rtlCol="0" anchor="t"/>
          <a:lstStyle/>
          <a:p>
            <a:pPr marL="0" indent="0">
              <a:buNone/>
            </a:pPr>
            <a:r>
              <a:rPr lang="en-US" sz="1700" b="1" dirty="0">
                <a:solidFill>
                  <a:schemeClr val="tx1"/>
                </a:solidFill>
              </a:rPr>
              <a:t>Accelerate capabilities with industry insight</a:t>
            </a:r>
            <a:endParaRPr lang="en-US" sz="1700" dirty="0"/>
          </a:p>
        </p:txBody>
      </p:sp>
      <p:sp>
        <p:nvSpPr>
          <p:cNvPr id="22" name="Card 3 response label"/>
          <p:cNvSpPr txBox="1"/>
          <p:nvPr/>
        </p:nvSpPr>
        <p:spPr>
          <a:xfrm>
            <a:off x="8458200" y="3840480"/>
            <a:ext cx="283464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OUR RESPONSE</a:t>
            </a:r>
            <a:endParaRPr lang="en-US" sz="1100" dirty="0"/>
          </a:p>
        </p:txBody>
      </p:sp>
      <p:sp>
        <p:nvSpPr>
          <p:cNvPr id="23" name="Card 3 response"/>
          <p:cNvSpPr txBox="1"/>
          <p:nvPr/>
        </p:nvSpPr>
        <p:spPr>
          <a:xfrm>
            <a:off x="8458200" y="4114800"/>
            <a:ext cx="2834640" cy="1005840"/>
          </a:xfrm>
          <a:prstGeom prst="rect">
            <a:avLst/>
          </a:prstGeom>
          <a:noFill/>
          <a:ln/>
        </p:spPr>
        <p:txBody>
          <a:bodyPr wrap="square" lIns="0" tIns="0" rIns="0" bIns="0" rtlCol="0" anchor="t"/>
          <a:lstStyle/>
          <a:p>
            <a:pPr marL="0" indent="0">
              <a:buNone/>
            </a:pPr>
            <a:r>
              <a:rPr lang="en-US" sz="1400" dirty="0">
                <a:solidFill>
                  <a:schemeClr val="tx1"/>
                </a:solidFill>
              </a:rPr>
              <a:t>Diabetes use cases that prove value across patient, device, clinical and consent data</a:t>
            </a:r>
            <a:endParaRPr lang="en-US" sz="1400" dirty="0"/>
          </a:p>
        </p:txBody>
      </p:sp>
      <p:sp>
        <p:nvSpPr>
          <p:cNvPr id="24" name="Tagline"/>
          <p:cNvSpPr txBox="1"/>
          <p:nvPr/>
        </p:nvSpPr>
        <p:spPr>
          <a:xfrm>
            <a:off x="548640" y="5257800"/>
            <a:ext cx="11064240" cy="457200"/>
          </a:xfrm>
          <a:prstGeom prst="rect">
            <a:avLst/>
          </a:prstGeom>
          <a:noFill/>
          <a:ln/>
        </p:spPr>
        <p:txBody>
          <a:bodyPr wrap="square" lIns="0" tIns="0" rIns="0" bIns="0" rtlCol="0" anchor="ctr"/>
          <a:lstStyle/>
          <a:p>
            <a:pPr marL="0" indent="0">
              <a:buNone/>
            </a:pPr>
            <a:r>
              <a:rPr lang="en-US" sz="1700" b="1" i="1" dirty="0">
                <a:solidFill>
                  <a:schemeClr val="accent2"/>
                </a:solidFill>
              </a:rPr>
              <a:t>Industrialize the common foundation so each new AI use case is faster, safer and more reusable</a:t>
            </a:r>
            <a:endParaRPr lang="en-US" sz="17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a:spLocks noGrp="1"/>
          </p:cNvSpPr>
          <p:nvPr>
            <p:ph type="title" idx="100" hasCustomPrompt="1"/>
          </p:nvPr>
        </p:nvSpPr>
        <p:spPr>
          <a:xfrm>
            <a:off x="457200" y="274320"/>
            <a:ext cx="11247120" cy="868680"/>
          </a:xfrm>
          <a:prstGeom prst="rect">
            <a:avLst/>
          </a:prstGeom>
          <a:noFill/>
          <a:ln/>
        </p:spPr>
        <p:txBody>
          <a:bodyPr wrap="square" lIns="0" tIns="0" rIns="0" bIns="0" rtlCol="0" anchor="ctr"/>
          <a:lstStyle/>
          <a:p>
            <a:pPr marL="0" indent="0" algn="l">
              <a:buNone/>
            </a:pPr>
            <a:r>
              <a:rPr lang="en-US" sz="2800" b="1" dirty="0">
                <a:solidFill>
                  <a:schemeClr val="tx1"/>
                </a:solidFill>
              </a:rPr>
              <a:t>AI-powered diabetes data products – from evidence to trusted action</a:t>
            </a:r>
            <a:endParaRPr lang="en-US" sz="2800" dirty="0"/>
          </a:p>
        </p:txBody>
      </p:sp>
      <p:sp>
        <p:nvSpPr>
          <p:cNvPr id="3" name="Sources frame"/>
          <p:cNvSpPr/>
          <p:nvPr/>
        </p:nvSpPr>
        <p:spPr>
          <a:xfrm>
            <a:off x="457200" y="1325880"/>
            <a:ext cx="2377440" cy="4434840"/>
          </a:xfrm>
          <a:prstGeom prst="rect">
            <a:avLst/>
          </a:prstGeom>
          <a:solidFill>
            <a:schemeClr val="bg1"/>
          </a:solidFill>
          <a:ln w="9525">
            <a:solidFill>
              <a:srgbClr val="BFBFBF"/>
            </a:solidFill>
            <a:prstDash val="solid"/>
          </a:ln>
        </p:spPr>
        <p:txBody>
          <a:bodyPr/>
          <a:lstStyle/>
          <a:p>
            <a:endParaRPr lang="en-GB"/>
          </a:p>
        </p:txBody>
      </p:sp>
      <p:sp>
        <p:nvSpPr>
          <p:cNvPr id="4" name="Sources header"/>
          <p:cNvSpPr txBox="1"/>
          <p:nvPr/>
        </p:nvSpPr>
        <p:spPr>
          <a:xfrm>
            <a:off x="457200" y="1325880"/>
            <a:ext cx="2377440" cy="411480"/>
          </a:xfrm>
          <a:prstGeom prst="rect">
            <a:avLst/>
          </a:prstGeom>
          <a:solidFill>
            <a:schemeClr val="accent2"/>
          </a:solidFill>
          <a:ln/>
        </p:spPr>
        <p:txBody>
          <a:bodyPr wrap="square" lIns="0" tIns="0" rIns="0" bIns="0" rtlCol="0" anchor="ctr"/>
          <a:lstStyle/>
          <a:p>
            <a:pPr marL="0" indent="0" algn="ctr">
              <a:buNone/>
            </a:pPr>
            <a:r>
              <a:rPr lang="en-US" sz="1300" b="1" dirty="0">
                <a:solidFill>
                  <a:schemeClr val="bg1"/>
                </a:solidFill>
              </a:rPr>
              <a:t>Data sources</a:t>
            </a:r>
            <a:endParaRPr lang="en-US" sz="1300" dirty="0"/>
          </a:p>
        </p:txBody>
      </p:sp>
      <p:pic>
        <p:nvPicPr>
          <p:cNvPr id="5" name="Policy admin icon" descr="Policy admin"/>
          <p:cNvPicPr>
            <a:picLocks noChangeAspect="1"/>
          </p:cNvPicPr>
          <p:nvPr/>
        </p:nvPicPr>
        <p:blipFill>
          <a:blip r:embed="rId3"/>
          <a:stretch>
            <a:fillRect/>
          </a:stretch>
        </p:blipFill>
        <p:spPr>
          <a:xfrm>
            <a:off x="594360" y="1889760"/>
            <a:ext cx="365760" cy="365760"/>
          </a:xfrm>
          <a:prstGeom prst="rect">
            <a:avLst/>
          </a:prstGeom>
        </p:spPr>
      </p:pic>
      <p:sp>
        <p:nvSpPr>
          <p:cNvPr id="6" name="Policy admin label"/>
          <p:cNvSpPr txBox="1"/>
          <p:nvPr/>
        </p:nvSpPr>
        <p:spPr>
          <a:xfrm>
            <a:off x="1078992" y="1737360"/>
            <a:ext cx="1728216" cy="670560"/>
          </a:xfrm>
          <a:prstGeom prst="rect">
            <a:avLst/>
          </a:prstGeom>
          <a:noFill/>
          <a:ln/>
        </p:spPr>
        <p:txBody>
          <a:bodyPr wrap="square" lIns="0" tIns="0" rIns="0" bIns="0" rtlCol="0" anchor="ctr"/>
          <a:lstStyle/>
          <a:p>
            <a:pPr marL="0" indent="0">
              <a:buNone/>
            </a:pPr>
            <a:r>
              <a:rPr lang="en-US" sz="1200" b="1" dirty="0">
                <a:solidFill>
                  <a:schemeClr val="tx1"/>
                </a:solidFill>
              </a:rPr>
              <a:t>CGM / BGM</a:t>
            </a:r>
            <a:endParaRPr lang="en-US" sz="1200" dirty="0"/>
          </a:p>
          <a:p>
            <a:pPr marL="0" indent="0">
              <a:buNone/>
            </a:pPr>
            <a:r>
              <a:rPr lang="en-US" sz="1050" dirty="0">
                <a:solidFill>
                  <a:srgbClr val="595959"/>
                </a:solidFill>
              </a:rPr>
              <a:t>Measurements, timestamps</a:t>
            </a:r>
            <a:endParaRPr lang="en-US" sz="1200" dirty="0"/>
          </a:p>
        </p:txBody>
      </p:sp>
      <p:sp>
        <p:nvSpPr>
          <p:cNvPr id="7" name="Source divider 1"/>
          <p:cNvSpPr/>
          <p:nvPr/>
        </p:nvSpPr>
        <p:spPr>
          <a:xfrm>
            <a:off x="566928" y="2407920"/>
            <a:ext cx="2157984" cy="1"/>
          </a:xfrm>
          <a:prstGeom prst="line">
            <a:avLst/>
          </a:prstGeom>
          <a:noFill/>
          <a:ln w="12700">
            <a:solidFill>
              <a:schemeClr val="accent4"/>
            </a:solidFill>
            <a:prstDash val="dash"/>
          </a:ln>
        </p:spPr>
        <p:txBody>
          <a:bodyPr/>
          <a:lstStyle/>
          <a:p>
            <a:endParaRPr lang="en-GB"/>
          </a:p>
        </p:txBody>
      </p:sp>
      <p:pic>
        <p:nvPicPr>
          <p:cNvPr id="8" name="Claims icon" descr="Claims"/>
          <p:cNvPicPr>
            <a:picLocks noChangeAspect="1"/>
          </p:cNvPicPr>
          <p:nvPr/>
        </p:nvPicPr>
        <p:blipFill>
          <a:blip r:embed="rId4"/>
          <a:stretch>
            <a:fillRect/>
          </a:stretch>
        </p:blipFill>
        <p:spPr>
          <a:xfrm>
            <a:off x="594360" y="2560320"/>
            <a:ext cx="365760" cy="365760"/>
          </a:xfrm>
          <a:prstGeom prst="rect">
            <a:avLst/>
          </a:prstGeom>
        </p:spPr>
      </p:pic>
      <p:sp>
        <p:nvSpPr>
          <p:cNvPr id="9" name="Claims label"/>
          <p:cNvSpPr txBox="1"/>
          <p:nvPr/>
        </p:nvSpPr>
        <p:spPr>
          <a:xfrm>
            <a:off x="1078992" y="2407920"/>
            <a:ext cx="1664208" cy="670560"/>
          </a:xfrm>
          <a:prstGeom prst="rect">
            <a:avLst/>
          </a:prstGeom>
          <a:noFill/>
          <a:ln/>
        </p:spPr>
        <p:txBody>
          <a:bodyPr wrap="square" lIns="0" tIns="0" rIns="0" bIns="0" rtlCol="0" anchor="ctr"/>
          <a:lstStyle/>
          <a:p>
            <a:pPr marL="0" indent="0">
              <a:buNone/>
            </a:pPr>
            <a:r>
              <a:rPr lang="en-US" sz="1200" b="1" dirty="0">
                <a:solidFill>
                  <a:schemeClr val="tx1"/>
                </a:solidFill>
              </a:rPr>
              <a:t>Devices &amp; apps</a:t>
            </a:r>
            <a:endParaRPr lang="en-US" sz="1200" dirty="0"/>
          </a:p>
          <a:p>
            <a:pPr marL="0" indent="0">
              <a:buNone/>
            </a:pPr>
            <a:r>
              <a:rPr lang="en-US" sz="1050" dirty="0">
                <a:solidFill>
                  <a:srgbClr val="595959"/>
                </a:solidFill>
              </a:rPr>
              <a:t>Sync, firmware, events</a:t>
            </a:r>
            <a:endParaRPr lang="en-US" sz="1200" dirty="0"/>
          </a:p>
        </p:txBody>
      </p:sp>
      <p:sp>
        <p:nvSpPr>
          <p:cNvPr id="10" name="Source divider 2"/>
          <p:cNvSpPr/>
          <p:nvPr/>
        </p:nvSpPr>
        <p:spPr>
          <a:xfrm>
            <a:off x="566928" y="3078480"/>
            <a:ext cx="2157984" cy="1"/>
          </a:xfrm>
          <a:prstGeom prst="line">
            <a:avLst/>
          </a:prstGeom>
          <a:noFill/>
          <a:ln w="12700">
            <a:solidFill>
              <a:schemeClr val="accent4"/>
            </a:solidFill>
            <a:prstDash val="dash"/>
          </a:ln>
        </p:spPr>
        <p:txBody>
          <a:bodyPr/>
          <a:lstStyle/>
          <a:p>
            <a:endParaRPr lang="en-GB"/>
          </a:p>
        </p:txBody>
      </p:sp>
      <p:pic>
        <p:nvPicPr>
          <p:cNvPr id="11" name="Billing icon" descr="Billing"/>
          <p:cNvPicPr>
            <a:picLocks noChangeAspect="1"/>
          </p:cNvPicPr>
          <p:nvPr/>
        </p:nvPicPr>
        <p:blipFill>
          <a:blip r:embed="rId5"/>
          <a:stretch>
            <a:fillRect/>
          </a:stretch>
        </p:blipFill>
        <p:spPr>
          <a:xfrm>
            <a:off x="594360" y="3230880"/>
            <a:ext cx="365760" cy="365760"/>
          </a:xfrm>
          <a:prstGeom prst="rect">
            <a:avLst/>
          </a:prstGeom>
        </p:spPr>
      </p:pic>
      <p:sp>
        <p:nvSpPr>
          <p:cNvPr id="12" name="Billing label"/>
          <p:cNvSpPr txBox="1"/>
          <p:nvPr/>
        </p:nvSpPr>
        <p:spPr>
          <a:xfrm>
            <a:off x="1078992" y="3078480"/>
            <a:ext cx="1664208" cy="670560"/>
          </a:xfrm>
          <a:prstGeom prst="rect">
            <a:avLst/>
          </a:prstGeom>
          <a:noFill/>
          <a:ln/>
        </p:spPr>
        <p:txBody>
          <a:bodyPr wrap="square" lIns="0" tIns="0" rIns="0" bIns="0" rtlCol="0" anchor="ctr"/>
          <a:lstStyle/>
          <a:p>
            <a:pPr marL="0" indent="0">
              <a:buNone/>
            </a:pPr>
            <a:r>
              <a:rPr lang="en-US" sz="1200" b="1" dirty="0">
                <a:solidFill>
                  <a:schemeClr val="tx1"/>
                </a:solidFill>
              </a:rPr>
              <a:t>Clinical &amp; labs</a:t>
            </a:r>
            <a:endParaRPr lang="en-US" sz="1200" dirty="0"/>
          </a:p>
          <a:p>
            <a:pPr marL="0" indent="0">
              <a:buNone/>
            </a:pPr>
            <a:r>
              <a:rPr lang="en-US" sz="1050" dirty="0">
                <a:solidFill>
                  <a:srgbClr val="595959"/>
                </a:solidFill>
              </a:rPr>
              <a:t>Encounters, observations</a:t>
            </a:r>
            <a:endParaRPr lang="en-US" sz="1200" dirty="0"/>
          </a:p>
        </p:txBody>
      </p:sp>
      <p:sp>
        <p:nvSpPr>
          <p:cNvPr id="13" name="Source divider 3"/>
          <p:cNvSpPr/>
          <p:nvPr/>
        </p:nvSpPr>
        <p:spPr>
          <a:xfrm>
            <a:off x="566928" y="3749040"/>
            <a:ext cx="2157984" cy="1"/>
          </a:xfrm>
          <a:prstGeom prst="line">
            <a:avLst/>
          </a:prstGeom>
          <a:noFill/>
          <a:ln w="12700">
            <a:solidFill>
              <a:schemeClr val="accent4"/>
            </a:solidFill>
            <a:prstDash val="dash"/>
          </a:ln>
        </p:spPr>
        <p:txBody>
          <a:bodyPr/>
          <a:lstStyle/>
          <a:p>
            <a:endParaRPr lang="en-GB"/>
          </a:p>
        </p:txBody>
      </p:sp>
      <p:pic>
        <p:nvPicPr>
          <p:cNvPr id="14" name="Unstructured icon" descr="Unstructured"/>
          <p:cNvPicPr>
            <a:picLocks noChangeAspect="1"/>
          </p:cNvPicPr>
          <p:nvPr/>
        </p:nvPicPr>
        <p:blipFill>
          <a:blip r:embed="rId6"/>
          <a:stretch>
            <a:fillRect/>
          </a:stretch>
        </p:blipFill>
        <p:spPr>
          <a:xfrm>
            <a:off x="594360" y="3901440"/>
            <a:ext cx="365760" cy="365760"/>
          </a:xfrm>
          <a:prstGeom prst="rect">
            <a:avLst/>
          </a:prstGeom>
        </p:spPr>
      </p:pic>
      <p:sp>
        <p:nvSpPr>
          <p:cNvPr id="15" name="Unstructured label"/>
          <p:cNvSpPr txBox="1"/>
          <p:nvPr/>
        </p:nvSpPr>
        <p:spPr>
          <a:xfrm>
            <a:off x="1078992" y="3749040"/>
            <a:ext cx="1664208" cy="670560"/>
          </a:xfrm>
          <a:prstGeom prst="rect">
            <a:avLst/>
          </a:prstGeom>
          <a:noFill/>
          <a:ln/>
        </p:spPr>
        <p:txBody>
          <a:bodyPr wrap="square" lIns="0" tIns="0" rIns="0" bIns="0" rtlCol="0" anchor="ctr"/>
          <a:lstStyle/>
          <a:p>
            <a:pPr marL="0" indent="0">
              <a:buNone/>
            </a:pPr>
            <a:r>
              <a:rPr lang="en-US" sz="1200" b="1" dirty="0">
                <a:solidFill>
                  <a:schemeClr val="tx1"/>
                </a:solidFill>
              </a:rPr>
              <a:t>Therapy</a:t>
            </a:r>
            <a:endParaRPr lang="en-US" sz="1200" dirty="0"/>
          </a:p>
          <a:p>
            <a:pPr marL="0" indent="0">
              <a:buNone/>
            </a:pPr>
            <a:r>
              <a:rPr lang="en-US" sz="1050" dirty="0">
                <a:solidFill>
                  <a:srgbClr val="595959"/>
                </a:solidFill>
              </a:rPr>
              <a:t>Medication, insulin</a:t>
            </a:r>
            <a:endParaRPr lang="en-US" sz="1200" dirty="0"/>
          </a:p>
        </p:txBody>
      </p:sp>
      <p:sp>
        <p:nvSpPr>
          <p:cNvPr id="16" name="Source divider 4"/>
          <p:cNvSpPr/>
          <p:nvPr/>
        </p:nvSpPr>
        <p:spPr>
          <a:xfrm>
            <a:off x="566928" y="4419600"/>
            <a:ext cx="2157984" cy="1"/>
          </a:xfrm>
          <a:prstGeom prst="line">
            <a:avLst/>
          </a:prstGeom>
          <a:noFill/>
          <a:ln w="12700">
            <a:solidFill>
              <a:schemeClr val="accent4"/>
            </a:solidFill>
            <a:prstDash val="dash"/>
          </a:ln>
        </p:spPr>
        <p:txBody>
          <a:bodyPr/>
          <a:lstStyle/>
          <a:p>
            <a:endParaRPr lang="en-GB"/>
          </a:p>
        </p:txBody>
      </p:sp>
      <p:pic>
        <p:nvPicPr>
          <p:cNvPr id="17" name="IoT and telematics icon" descr="IoT and telematics"/>
          <p:cNvPicPr>
            <a:picLocks noChangeAspect="1"/>
          </p:cNvPicPr>
          <p:nvPr/>
        </p:nvPicPr>
        <p:blipFill>
          <a:blip r:embed="rId7"/>
          <a:stretch>
            <a:fillRect/>
          </a:stretch>
        </p:blipFill>
        <p:spPr>
          <a:xfrm>
            <a:off x="594360" y="4572000"/>
            <a:ext cx="365760" cy="365760"/>
          </a:xfrm>
          <a:prstGeom prst="rect">
            <a:avLst/>
          </a:prstGeom>
        </p:spPr>
      </p:pic>
      <p:sp>
        <p:nvSpPr>
          <p:cNvPr id="18" name="IoT and telematics label"/>
          <p:cNvSpPr txBox="1"/>
          <p:nvPr/>
        </p:nvSpPr>
        <p:spPr>
          <a:xfrm>
            <a:off x="1078992" y="4419600"/>
            <a:ext cx="1664208" cy="670560"/>
          </a:xfrm>
          <a:prstGeom prst="rect">
            <a:avLst/>
          </a:prstGeom>
          <a:noFill/>
          <a:ln/>
        </p:spPr>
        <p:txBody>
          <a:bodyPr wrap="square" lIns="0" tIns="0" rIns="0" bIns="0" rtlCol="0" anchor="ctr"/>
          <a:lstStyle/>
          <a:p>
            <a:pPr marL="0" indent="0">
              <a:buNone/>
            </a:pPr>
            <a:r>
              <a:rPr lang="en-US" sz="1200" b="1" dirty="0">
                <a:solidFill>
                  <a:schemeClr val="tx1"/>
                </a:solidFill>
              </a:rPr>
              <a:t>Consent</a:t>
            </a:r>
            <a:endParaRPr lang="en-US" sz="1200" dirty="0"/>
          </a:p>
          <a:p>
            <a:pPr marL="0" indent="0">
              <a:buNone/>
            </a:pPr>
            <a:r>
              <a:rPr lang="en-US" sz="1050" dirty="0">
                <a:solidFill>
                  <a:srgbClr val="595959"/>
                </a:solidFill>
              </a:rPr>
              <a:t>Purpose and sharing</a:t>
            </a:r>
            <a:endParaRPr lang="en-US" sz="1200" dirty="0"/>
          </a:p>
        </p:txBody>
      </p:sp>
      <p:sp>
        <p:nvSpPr>
          <p:cNvPr id="19" name="Source divider 5"/>
          <p:cNvSpPr/>
          <p:nvPr/>
        </p:nvSpPr>
        <p:spPr>
          <a:xfrm>
            <a:off x="566928" y="5090160"/>
            <a:ext cx="2157984" cy="1"/>
          </a:xfrm>
          <a:prstGeom prst="line">
            <a:avLst/>
          </a:prstGeom>
          <a:noFill/>
          <a:ln w="12700">
            <a:solidFill>
              <a:schemeClr val="accent4"/>
            </a:solidFill>
            <a:prstDash val="dash"/>
          </a:ln>
        </p:spPr>
        <p:txBody>
          <a:bodyPr/>
          <a:lstStyle/>
          <a:p>
            <a:endParaRPr lang="en-GB"/>
          </a:p>
        </p:txBody>
      </p:sp>
      <p:pic>
        <p:nvPicPr>
          <p:cNvPr id="20" name="3rd-party data icon" descr="3rd-party data"/>
          <p:cNvPicPr>
            <a:picLocks noChangeAspect="1"/>
          </p:cNvPicPr>
          <p:nvPr/>
        </p:nvPicPr>
        <p:blipFill>
          <a:blip r:embed="rId8"/>
          <a:stretch>
            <a:fillRect/>
          </a:stretch>
        </p:blipFill>
        <p:spPr>
          <a:xfrm>
            <a:off x="594360" y="5242560"/>
            <a:ext cx="365760" cy="365760"/>
          </a:xfrm>
          <a:prstGeom prst="rect">
            <a:avLst/>
          </a:prstGeom>
        </p:spPr>
      </p:pic>
      <p:sp>
        <p:nvSpPr>
          <p:cNvPr id="21" name="3rd-party data label"/>
          <p:cNvSpPr txBox="1"/>
          <p:nvPr/>
        </p:nvSpPr>
        <p:spPr>
          <a:xfrm>
            <a:off x="1078992" y="5090160"/>
            <a:ext cx="1664208" cy="670560"/>
          </a:xfrm>
          <a:prstGeom prst="rect">
            <a:avLst/>
          </a:prstGeom>
          <a:noFill/>
          <a:ln/>
        </p:spPr>
        <p:txBody>
          <a:bodyPr wrap="square" lIns="0" tIns="0" rIns="0" bIns="0" rtlCol="0" anchor="ctr"/>
          <a:lstStyle/>
          <a:p>
            <a:pPr marL="0" indent="0">
              <a:buNone/>
            </a:pPr>
            <a:r>
              <a:rPr lang="en-US" sz="1200" b="1" dirty="0">
                <a:solidFill>
                  <a:schemeClr val="tx1"/>
                </a:solidFill>
              </a:rPr>
              <a:t>Documents</a:t>
            </a:r>
            <a:endParaRPr lang="en-US" sz="1200" dirty="0"/>
          </a:p>
          <a:p>
            <a:pPr marL="0" indent="0">
              <a:buNone/>
            </a:pPr>
            <a:r>
              <a:rPr lang="en-US" sz="1050" dirty="0">
                <a:solidFill>
                  <a:srgbClr val="595959"/>
                </a:solidFill>
              </a:rPr>
              <a:t>Notes, protocols</a:t>
            </a:r>
            <a:endParaRPr lang="en-US" sz="1200" dirty="0"/>
          </a:p>
        </p:txBody>
      </p:sp>
      <p:sp>
        <p:nvSpPr>
          <p:cNvPr id="22" name="Processing frame"/>
          <p:cNvSpPr/>
          <p:nvPr/>
        </p:nvSpPr>
        <p:spPr>
          <a:xfrm>
            <a:off x="3200400" y="1325880"/>
            <a:ext cx="1920240" cy="4434840"/>
          </a:xfrm>
          <a:prstGeom prst="rect">
            <a:avLst/>
          </a:prstGeom>
          <a:solidFill>
            <a:schemeClr val="bg1"/>
          </a:solidFill>
          <a:ln w="9525">
            <a:solidFill>
              <a:srgbClr val="BFBFBF"/>
            </a:solidFill>
            <a:prstDash val="solid"/>
          </a:ln>
        </p:spPr>
        <p:txBody>
          <a:bodyPr/>
          <a:lstStyle/>
          <a:p>
            <a:endParaRPr lang="en-GB"/>
          </a:p>
        </p:txBody>
      </p:sp>
      <p:sp>
        <p:nvSpPr>
          <p:cNvPr id="23" name="Processing header"/>
          <p:cNvSpPr txBox="1"/>
          <p:nvPr/>
        </p:nvSpPr>
        <p:spPr>
          <a:xfrm>
            <a:off x="3200400" y="1325880"/>
            <a:ext cx="1920240" cy="411480"/>
          </a:xfrm>
          <a:prstGeom prst="rect">
            <a:avLst/>
          </a:prstGeom>
          <a:solidFill>
            <a:schemeClr val="accent2"/>
          </a:solidFill>
          <a:ln/>
        </p:spPr>
        <p:txBody>
          <a:bodyPr wrap="square" lIns="0" tIns="0" rIns="0" bIns="0" rtlCol="0" anchor="ctr"/>
          <a:lstStyle/>
          <a:p>
            <a:pPr marL="0" indent="0" algn="ctr">
              <a:buNone/>
            </a:pPr>
            <a:r>
              <a:rPr lang="en-US" sz="1300" b="1" dirty="0">
                <a:solidFill>
                  <a:schemeClr val="bg1"/>
                </a:solidFill>
              </a:rPr>
              <a:t>      AI processing</a:t>
            </a:r>
            <a:endParaRPr lang="en-US" sz="1300" dirty="0"/>
          </a:p>
        </p:txBody>
      </p:sp>
      <p:sp>
        <p:nvSpPr>
          <p:cNvPr id="24" name="Badge 1"/>
          <p:cNvSpPr/>
          <p:nvPr/>
        </p:nvSpPr>
        <p:spPr>
          <a:xfrm>
            <a:off x="3310128" y="1394460"/>
            <a:ext cx="274320" cy="274320"/>
          </a:xfrm>
          <a:prstGeom prst="ellipse">
            <a:avLst/>
          </a:prstGeom>
          <a:solidFill>
            <a:schemeClr val="bg1"/>
          </a:solidFill>
          <a:ln w="19050">
            <a:solidFill>
              <a:schemeClr val="accent2"/>
            </a:solidFill>
            <a:prstDash val="solid"/>
          </a:ln>
        </p:spPr>
        <p:txBody>
          <a:bodyPr/>
          <a:lstStyle/>
          <a:p>
            <a:endParaRPr lang="en-GB"/>
          </a:p>
        </p:txBody>
      </p:sp>
      <p:sp>
        <p:nvSpPr>
          <p:cNvPr id="25" name="Badge 1 number"/>
          <p:cNvSpPr txBox="1"/>
          <p:nvPr/>
        </p:nvSpPr>
        <p:spPr>
          <a:xfrm>
            <a:off x="3310128" y="1394460"/>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1</a:t>
            </a:r>
            <a:endParaRPr lang="en-US" sz="1100" dirty="0"/>
          </a:p>
        </p:txBody>
      </p:sp>
      <p:sp>
        <p:nvSpPr>
          <p:cNvPr id="26" name="Document intelligence box"/>
          <p:cNvSpPr txBox="1"/>
          <p:nvPr/>
        </p:nvSpPr>
        <p:spPr>
          <a:xfrm>
            <a:off x="3310128" y="1874520"/>
            <a:ext cx="1700784" cy="640080"/>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100" b="1" dirty="0">
                <a:solidFill>
                  <a:schemeClr val="tx1"/>
                </a:solidFill>
              </a:rPr>
              <a:t>Normalize</a:t>
            </a:r>
            <a:endParaRPr lang="en-US" sz="1100" dirty="0"/>
          </a:p>
          <a:p>
            <a:pPr marL="0" indent="0" algn="ctr">
              <a:buNone/>
            </a:pPr>
            <a:r>
              <a:rPr lang="en-US" sz="1000" dirty="0">
                <a:solidFill>
                  <a:srgbClr val="595959"/>
                </a:solidFill>
              </a:rPr>
              <a:t>Units + timestamps</a:t>
            </a:r>
            <a:endParaRPr lang="en-US" sz="1100" dirty="0"/>
          </a:p>
        </p:txBody>
      </p:sp>
      <p:sp>
        <p:nvSpPr>
          <p:cNvPr id="27" name="Entity resolution box"/>
          <p:cNvSpPr txBox="1"/>
          <p:nvPr/>
        </p:nvSpPr>
        <p:spPr>
          <a:xfrm>
            <a:off x="3310128" y="2633472"/>
            <a:ext cx="1700784" cy="640080"/>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100" b="1" dirty="0">
                <a:solidFill>
                  <a:schemeClr val="tx1"/>
                </a:solidFill>
              </a:rPr>
              <a:t>Entity resolution</a:t>
            </a:r>
            <a:endParaRPr lang="en-US" sz="1100" dirty="0"/>
          </a:p>
          <a:p>
            <a:pPr marL="0" indent="0" algn="ctr">
              <a:buNone/>
            </a:pPr>
            <a:r>
              <a:rPr lang="en-US" sz="1000" dirty="0">
                <a:solidFill>
                  <a:srgbClr val="595959"/>
                </a:solidFill>
              </a:rPr>
              <a:t>Patient + device match</a:t>
            </a:r>
            <a:endParaRPr lang="en-US" sz="1100" dirty="0"/>
          </a:p>
        </p:txBody>
      </p:sp>
      <p:sp>
        <p:nvSpPr>
          <p:cNvPr id="28" name="Data labelling box"/>
          <p:cNvSpPr txBox="1"/>
          <p:nvPr/>
        </p:nvSpPr>
        <p:spPr>
          <a:xfrm>
            <a:off x="3310128" y="3392424"/>
            <a:ext cx="1700784" cy="640080"/>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100" b="1" dirty="0">
                <a:solidFill>
                  <a:schemeClr val="tx1"/>
                </a:solidFill>
              </a:rPr>
              <a:t>Terminology enrichment</a:t>
            </a:r>
            <a:endParaRPr lang="en-US" sz="1100" dirty="0"/>
          </a:p>
          <a:p>
            <a:pPr marL="0" indent="0" algn="ctr">
              <a:buNone/>
            </a:pPr>
            <a:r>
              <a:rPr lang="en-US" sz="1000" dirty="0">
                <a:solidFill>
                  <a:srgbClr val="595959"/>
                </a:solidFill>
              </a:rPr>
              <a:t>Clinical context + semantics</a:t>
            </a:r>
            <a:endParaRPr lang="en-US" sz="1100" dirty="0"/>
          </a:p>
        </p:txBody>
      </p:sp>
      <p:sp>
        <p:nvSpPr>
          <p:cNvPr id="29" name="Embedding &amp; indexing box"/>
          <p:cNvSpPr txBox="1"/>
          <p:nvPr/>
        </p:nvSpPr>
        <p:spPr>
          <a:xfrm>
            <a:off x="3310128" y="4151376"/>
            <a:ext cx="1700784" cy="640080"/>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100" b="1" dirty="0">
                <a:solidFill>
                  <a:schemeClr val="tx1"/>
                </a:solidFill>
              </a:rPr>
              <a:t>Feature &amp; embedding prep</a:t>
            </a:r>
            <a:endParaRPr lang="en-US" sz="1100" dirty="0"/>
          </a:p>
          <a:p>
            <a:pPr marL="0" indent="0" algn="ctr">
              <a:buNone/>
            </a:pPr>
            <a:r>
              <a:rPr lang="en-US" sz="1000" dirty="0">
                <a:solidFill>
                  <a:srgbClr val="595959"/>
                </a:solidFill>
              </a:rPr>
              <a:t>Reusable AI context</a:t>
            </a:r>
            <a:endParaRPr lang="en-US" sz="1100" dirty="0"/>
          </a:p>
        </p:txBody>
      </p:sp>
      <p:sp>
        <p:nvSpPr>
          <p:cNvPr id="30" name="Human-in-the-loop box"/>
          <p:cNvSpPr txBox="1"/>
          <p:nvPr/>
        </p:nvSpPr>
        <p:spPr>
          <a:xfrm>
            <a:off x="3310128" y="4910328"/>
            <a:ext cx="1700784" cy="640080"/>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100" b="1" dirty="0">
                <a:solidFill>
                  <a:schemeClr val="tx1"/>
                </a:solidFill>
              </a:rPr>
              <a:t>Human-in-the-loop</a:t>
            </a:r>
            <a:endParaRPr lang="en-US" sz="1100" dirty="0"/>
          </a:p>
          <a:p>
            <a:pPr marL="0" indent="0" algn="ctr">
              <a:buNone/>
            </a:pPr>
            <a:r>
              <a:rPr lang="en-US" sz="1000" dirty="0">
                <a:solidFill>
                  <a:srgbClr val="595959"/>
                </a:solidFill>
              </a:rPr>
              <a:t>Clinical and steward review</a:t>
            </a:r>
            <a:endParaRPr lang="en-US" sz="1100" dirty="0"/>
          </a:p>
        </p:txBody>
      </p:sp>
      <p:sp>
        <p:nvSpPr>
          <p:cNvPr id="31" name="Badge 5"/>
          <p:cNvSpPr/>
          <p:nvPr/>
        </p:nvSpPr>
        <p:spPr>
          <a:xfrm>
            <a:off x="3063240" y="5093208"/>
            <a:ext cx="274320" cy="274320"/>
          </a:xfrm>
          <a:prstGeom prst="ellipse">
            <a:avLst/>
          </a:prstGeom>
          <a:solidFill>
            <a:schemeClr val="bg1"/>
          </a:solidFill>
          <a:ln w="19050">
            <a:solidFill>
              <a:schemeClr val="accent2"/>
            </a:solidFill>
            <a:prstDash val="solid"/>
          </a:ln>
        </p:spPr>
        <p:txBody>
          <a:bodyPr/>
          <a:lstStyle/>
          <a:p>
            <a:endParaRPr lang="en-GB"/>
          </a:p>
        </p:txBody>
      </p:sp>
      <p:sp>
        <p:nvSpPr>
          <p:cNvPr id="32" name="Badge 5 number"/>
          <p:cNvSpPr txBox="1"/>
          <p:nvPr/>
        </p:nvSpPr>
        <p:spPr>
          <a:xfrm>
            <a:off x="3063240" y="5093208"/>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5</a:t>
            </a:r>
            <a:endParaRPr lang="en-US" sz="1100" dirty="0"/>
          </a:p>
        </p:txBody>
      </p:sp>
      <p:sp>
        <p:nvSpPr>
          <p:cNvPr id="33" name="Sources to processing"/>
          <p:cNvSpPr/>
          <p:nvPr/>
        </p:nvSpPr>
        <p:spPr>
          <a:xfrm>
            <a:off x="2880360" y="2103120"/>
            <a:ext cx="274320" cy="1"/>
          </a:xfrm>
          <a:prstGeom prst="line">
            <a:avLst/>
          </a:prstGeom>
          <a:noFill/>
          <a:ln w="19050">
            <a:solidFill>
              <a:srgbClr val="7F7F7F"/>
            </a:solidFill>
            <a:prstDash val="solid"/>
            <a:tailEnd type="triangle"/>
          </a:ln>
        </p:spPr>
        <p:txBody>
          <a:bodyPr/>
          <a:lstStyle/>
          <a:p>
            <a:endParaRPr lang="en-GB"/>
          </a:p>
        </p:txBody>
      </p:sp>
      <p:sp>
        <p:nvSpPr>
          <p:cNvPr id="34" name="Remediation to sources"/>
          <p:cNvSpPr/>
          <p:nvPr/>
        </p:nvSpPr>
        <p:spPr>
          <a:xfrm>
            <a:off x="2880360" y="5440680"/>
            <a:ext cx="274320" cy="1"/>
          </a:xfrm>
          <a:prstGeom prst="line">
            <a:avLst/>
          </a:prstGeom>
          <a:noFill/>
          <a:ln w="19050">
            <a:solidFill>
              <a:srgbClr val="7F7F7F"/>
            </a:solidFill>
            <a:prstDash val="solid"/>
            <a:headEnd type="triangle"/>
          </a:ln>
        </p:spPr>
        <p:txBody>
          <a:bodyPr/>
          <a:lstStyle/>
          <a:p>
            <a:endParaRPr lang="en-GB"/>
          </a:p>
        </p:txBody>
      </p:sp>
      <p:sp>
        <p:nvSpPr>
          <p:cNvPr id="35" name="Processing to products"/>
          <p:cNvSpPr/>
          <p:nvPr/>
        </p:nvSpPr>
        <p:spPr>
          <a:xfrm>
            <a:off x="5166360" y="2011680"/>
            <a:ext cx="274320" cy="1"/>
          </a:xfrm>
          <a:prstGeom prst="line">
            <a:avLst/>
          </a:prstGeom>
          <a:noFill/>
          <a:ln w="19050">
            <a:solidFill>
              <a:srgbClr val="7F7F7F"/>
            </a:solidFill>
            <a:prstDash val="solid"/>
            <a:tailEnd type="triangle"/>
          </a:ln>
        </p:spPr>
        <p:txBody>
          <a:bodyPr/>
          <a:lstStyle/>
          <a:p>
            <a:endParaRPr lang="en-GB"/>
          </a:p>
        </p:txBody>
      </p:sp>
      <p:sp>
        <p:nvSpPr>
          <p:cNvPr id="36" name="Products to processing"/>
          <p:cNvSpPr/>
          <p:nvPr/>
        </p:nvSpPr>
        <p:spPr>
          <a:xfrm>
            <a:off x="5166360" y="2240280"/>
            <a:ext cx="274320" cy="1"/>
          </a:xfrm>
          <a:prstGeom prst="line">
            <a:avLst/>
          </a:prstGeom>
          <a:noFill/>
          <a:ln w="19050">
            <a:solidFill>
              <a:srgbClr val="7F7F7F"/>
            </a:solidFill>
            <a:prstDash val="solid"/>
            <a:headEnd type="triangle"/>
          </a:ln>
        </p:spPr>
        <p:txBody>
          <a:bodyPr/>
          <a:lstStyle/>
          <a:p>
            <a:endParaRPr lang="en-GB"/>
          </a:p>
        </p:txBody>
      </p:sp>
      <p:sp>
        <p:nvSpPr>
          <p:cNvPr id="37" name="Processing to AI layer"/>
          <p:cNvSpPr/>
          <p:nvPr/>
        </p:nvSpPr>
        <p:spPr>
          <a:xfrm>
            <a:off x="5166360" y="5074920"/>
            <a:ext cx="274320" cy="1"/>
          </a:xfrm>
          <a:prstGeom prst="line">
            <a:avLst/>
          </a:prstGeom>
          <a:noFill/>
          <a:ln w="19050">
            <a:solidFill>
              <a:srgbClr val="7F7F7F"/>
            </a:solidFill>
            <a:prstDash val="solid"/>
            <a:tailEnd type="triangle"/>
          </a:ln>
        </p:spPr>
        <p:txBody>
          <a:bodyPr/>
          <a:lstStyle/>
          <a:p>
            <a:endParaRPr lang="en-GB"/>
          </a:p>
        </p:txBody>
      </p:sp>
      <p:sp>
        <p:nvSpPr>
          <p:cNvPr id="38" name="AI layer to processing"/>
          <p:cNvSpPr/>
          <p:nvPr/>
        </p:nvSpPr>
        <p:spPr>
          <a:xfrm>
            <a:off x="5166360" y="5303520"/>
            <a:ext cx="274320" cy="1"/>
          </a:xfrm>
          <a:prstGeom prst="line">
            <a:avLst/>
          </a:prstGeom>
          <a:noFill/>
          <a:ln w="19050">
            <a:solidFill>
              <a:srgbClr val="7F7F7F"/>
            </a:solidFill>
            <a:prstDash val="solid"/>
            <a:headEnd type="triangle"/>
          </a:ln>
        </p:spPr>
        <p:txBody>
          <a:bodyPr/>
          <a:lstStyle/>
          <a:p>
            <a:endParaRPr lang="en-GB"/>
          </a:p>
        </p:txBody>
      </p:sp>
      <p:sp>
        <p:nvSpPr>
          <p:cNvPr id="39" name="Products frame"/>
          <p:cNvSpPr/>
          <p:nvPr/>
        </p:nvSpPr>
        <p:spPr>
          <a:xfrm>
            <a:off x="5486400" y="1325880"/>
            <a:ext cx="4480560" cy="2514600"/>
          </a:xfrm>
          <a:prstGeom prst="rect">
            <a:avLst/>
          </a:prstGeom>
          <a:solidFill>
            <a:schemeClr val="bg1"/>
          </a:solidFill>
          <a:ln w="9525">
            <a:solidFill>
              <a:srgbClr val="BFBFBF"/>
            </a:solidFill>
            <a:prstDash val="solid"/>
          </a:ln>
        </p:spPr>
        <p:txBody>
          <a:bodyPr/>
          <a:lstStyle/>
          <a:p>
            <a:endParaRPr lang="en-GB"/>
          </a:p>
        </p:txBody>
      </p:sp>
      <p:sp>
        <p:nvSpPr>
          <p:cNvPr id="40" name="Products header"/>
          <p:cNvSpPr txBox="1"/>
          <p:nvPr/>
        </p:nvSpPr>
        <p:spPr>
          <a:xfrm>
            <a:off x="5486400" y="1325880"/>
            <a:ext cx="4480560" cy="411480"/>
          </a:xfrm>
          <a:prstGeom prst="rect">
            <a:avLst/>
          </a:prstGeom>
          <a:solidFill>
            <a:schemeClr val="accent2"/>
          </a:solidFill>
          <a:ln/>
        </p:spPr>
        <p:txBody>
          <a:bodyPr wrap="square" lIns="0" tIns="0" rIns="0" bIns="0" rtlCol="0" anchor="ctr"/>
          <a:lstStyle/>
          <a:p>
            <a:pPr marL="0" indent="0" algn="ctr">
              <a:buNone/>
            </a:pPr>
            <a:r>
              <a:rPr lang="en-US" sz="1300" b="1" dirty="0">
                <a:solidFill>
                  <a:schemeClr val="bg1"/>
                </a:solidFill>
              </a:rPr>
              <a:t>Governed diabetes data products      </a:t>
            </a:r>
            <a:endParaRPr lang="en-US" sz="1300" dirty="0"/>
          </a:p>
        </p:txBody>
      </p:sp>
      <p:sp>
        <p:nvSpPr>
          <p:cNvPr id="41" name="Badge 3"/>
          <p:cNvSpPr/>
          <p:nvPr/>
        </p:nvSpPr>
        <p:spPr>
          <a:xfrm>
            <a:off x="9555480" y="1394460"/>
            <a:ext cx="274320" cy="274320"/>
          </a:xfrm>
          <a:prstGeom prst="ellipse">
            <a:avLst/>
          </a:prstGeom>
          <a:solidFill>
            <a:schemeClr val="bg1"/>
          </a:solidFill>
          <a:ln w="19050">
            <a:solidFill>
              <a:schemeClr val="accent2"/>
            </a:solidFill>
            <a:prstDash val="solid"/>
          </a:ln>
        </p:spPr>
        <p:txBody>
          <a:bodyPr/>
          <a:lstStyle/>
          <a:p>
            <a:endParaRPr lang="en-GB"/>
          </a:p>
        </p:txBody>
      </p:sp>
      <p:sp>
        <p:nvSpPr>
          <p:cNvPr id="42" name="Badge 3 number"/>
          <p:cNvSpPr txBox="1"/>
          <p:nvPr/>
        </p:nvSpPr>
        <p:spPr>
          <a:xfrm>
            <a:off x="9555480" y="1394460"/>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3</a:t>
            </a:r>
            <a:endParaRPr lang="en-US" sz="1100" dirty="0"/>
          </a:p>
        </p:txBody>
      </p:sp>
      <p:sp>
        <p:nvSpPr>
          <p:cNvPr id="43" name="Claim 360 hexagon"/>
          <p:cNvSpPr/>
          <p:nvPr/>
        </p:nvSpPr>
        <p:spPr>
          <a:xfrm>
            <a:off x="7040880" y="2212848"/>
            <a:ext cx="1371600" cy="1097280"/>
          </a:xfrm>
          <a:prstGeom prst="hexagon">
            <a:avLst/>
          </a:prstGeom>
          <a:solidFill>
            <a:schemeClr val="accent1"/>
          </a:solidFill>
          <a:ln w="12700">
            <a:solidFill>
              <a:schemeClr val="accent1"/>
            </a:solidFill>
            <a:prstDash val="solid"/>
          </a:ln>
        </p:spPr>
        <p:txBody>
          <a:bodyPr/>
          <a:lstStyle/>
          <a:p>
            <a:endParaRPr lang="en-GB"/>
          </a:p>
        </p:txBody>
      </p:sp>
      <p:sp>
        <p:nvSpPr>
          <p:cNvPr id="44" name="Claim 360 label"/>
          <p:cNvSpPr txBox="1"/>
          <p:nvPr/>
        </p:nvSpPr>
        <p:spPr>
          <a:xfrm>
            <a:off x="7178040" y="2350008"/>
            <a:ext cx="1051560" cy="877824"/>
          </a:xfrm>
          <a:prstGeom prst="rect">
            <a:avLst/>
          </a:prstGeom>
          <a:noFill/>
          <a:ln/>
        </p:spPr>
        <p:txBody>
          <a:bodyPr wrap="square" lIns="0" tIns="0" rIns="0" bIns="0" rtlCol="0" anchor="ctr"/>
          <a:lstStyle/>
          <a:p>
            <a:pPr marL="0" indent="0" algn="ctr">
              <a:buNone/>
            </a:pPr>
            <a:r>
              <a:rPr lang="en-US" sz="1400" b="1" dirty="0">
                <a:solidFill>
                  <a:schemeClr val="bg1"/>
                </a:solidFill>
              </a:rPr>
              <a:t>Devices &amp; apps 360</a:t>
            </a:r>
            <a:endParaRPr lang="en-US" sz="1400" dirty="0"/>
          </a:p>
          <a:p>
            <a:pPr marL="0" indent="0" algn="ctr">
              <a:buNone/>
            </a:pPr>
            <a:r>
              <a:rPr lang="en-US" sz="1000" dirty="0">
                <a:solidFill>
                  <a:schemeClr val="bg1"/>
                </a:solidFill>
              </a:rPr>
              <a:t>Example product</a:t>
            </a:r>
            <a:endParaRPr lang="en-US" sz="1400" dirty="0"/>
          </a:p>
        </p:txBody>
      </p:sp>
      <p:sp>
        <p:nvSpPr>
          <p:cNvPr id="45" name="Trait semantic metadata"/>
          <p:cNvSpPr txBox="1"/>
          <p:nvPr/>
        </p:nvSpPr>
        <p:spPr>
          <a:xfrm>
            <a:off x="6812280" y="1801368"/>
            <a:ext cx="1463040" cy="365760"/>
          </a:xfrm>
          <a:prstGeom prst="rect">
            <a:avLst/>
          </a:prstGeom>
          <a:noFill/>
          <a:ln/>
        </p:spPr>
        <p:txBody>
          <a:bodyPr wrap="square" lIns="0" tIns="0" rIns="0" bIns="0" rtlCol="0" anchor="ctr"/>
          <a:lstStyle/>
          <a:p>
            <a:pPr marL="0" indent="0" algn="ctr">
              <a:buNone/>
            </a:pPr>
            <a:r>
              <a:rPr lang="en-US" sz="1100" b="1" dirty="0">
                <a:solidFill>
                  <a:schemeClr val="tx1"/>
                </a:solidFill>
              </a:rPr>
              <a:t>Semantic metadata</a:t>
            </a:r>
            <a:endParaRPr lang="en-US" sz="1100" dirty="0"/>
          </a:p>
        </p:txBody>
      </p:sp>
      <p:sp>
        <p:nvSpPr>
          <p:cNvPr id="46" name="Badge 2"/>
          <p:cNvSpPr/>
          <p:nvPr/>
        </p:nvSpPr>
        <p:spPr>
          <a:xfrm>
            <a:off x="8348472" y="1847088"/>
            <a:ext cx="274320" cy="274320"/>
          </a:xfrm>
          <a:prstGeom prst="ellipse">
            <a:avLst/>
          </a:prstGeom>
          <a:solidFill>
            <a:schemeClr val="bg1"/>
          </a:solidFill>
          <a:ln w="19050">
            <a:solidFill>
              <a:schemeClr val="accent2"/>
            </a:solidFill>
            <a:prstDash val="solid"/>
          </a:ln>
        </p:spPr>
        <p:txBody>
          <a:bodyPr/>
          <a:lstStyle/>
          <a:p>
            <a:endParaRPr lang="en-GB"/>
          </a:p>
        </p:txBody>
      </p:sp>
      <p:sp>
        <p:nvSpPr>
          <p:cNvPr id="47" name="Badge 2 number"/>
          <p:cNvSpPr txBox="1"/>
          <p:nvPr/>
        </p:nvSpPr>
        <p:spPr>
          <a:xfrm>
            <a:off x="8348472" y="1847088"/>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2</a:t>
            </a:r>
            <a:endParaRPr lang="en-US" sz="1100" dirty="0"/>
          </a:p>
        </p:txBody>
      </p:sp>
      <p:sp>
        <p:nvSpPr>
          <p:cNvPr id="48" name="Tick top"/>
          <p:cNvSpPr/>
          <p:nvPr/>
        </p:nvSpPr>
        <p:spPr>
          <a:xfrm>
            <a:off x="7726680" y="2167128"/>
            <a:ext cx="914" cy="27432"/>
          </a:xfrm>
          <a:prstGeom prst="line">
            <a:avLst/>
          </a:prstGeom>
          <a:noFill/>
          <a:ln w="9525">
            <a:solidFill>
              <a:srgbClr val="7F7F7F"/>
            </a:solidFill>
            <a:prstDash val="solid"/>
          </a:ln>
        </p:spPr>
        <p:txBody>
          <a:bodyPr/>
          <a:lstStyle/>
          <a:p>
            <a:endParaRPr lang="en-GB"/>
          </a:p>
        </p:txBody>
      </p:sp>
      <p:sp>
        <p:nvSpPr>
          <p:cNvPr id="49" name="Trait data contract"/>
          <p:cNvSpPr txBox="1"/>
          <p:nvPr/>
        </p:nvSpPr>
        <p:spPr>
          <a:xfrm>
            <a:off x="5623560" y="2286000"/>
            <a:ext cx="1234440" cy="365760"/>
          </a:xfrm>
          <a:prstGeom prst="rect">
            <a:avLst/>
          </a:prstGeom>
          <a:noFill/>
          <a:ln/>
        </p:spPr>
        <p:txBody>
          <a:bodyPr wrap="square" lIns="0" tIns="0" rIns="0" bIns="0" rtlCol="0" anchor="ctr"/>
          <a:lstStyle/>
          <a:p>
            <a:pPr marL="0" indent="0" algn="r">
              <a:buNone/>
            </a:pPr>
            <a:r>
              <a:rPr lang="en-US" sz="1100" b="1" dirty="0">
                <a:solidFill>
                  <a:schemeClr val="tx1"/>
                </a:solidFill>
              </a:rPr>
              <a:t>Data contract</a:t>
            </a:r>
            <a:endParaRPr lang="en-US" sz="1100" dirty="0"/>
          </a:p>
        </p:txBody>
      </p:sp>
      <p:sp>
        <p:nvSpPr>
          <p:cNvPr id="50" name="Trait consent"/>
          <p:cNvSpPr txBox="1"/>
          <p:nvPr/>
        </p:nvSpPr>
        <p:spPr>
          <a:xfrm>
            <a:off x="5532120" y="2880360"/>
            <a:ext cx="1325880" cy="365760"/>
          </a:xfrm>
          <a:prstGeom prst="rect">
            <a:avLst/>
          </a:prstGeom>
          <a:noFill/>
          <a:ln/>
        </p:spPr>
        <p:txBody>
          <a:bodyPr wrap="square" lIns="0" tIns="0" rIns="0" bIns="0" rtlCol="0" anchor="ctr"/>
          <a:lstStyle/>
          <a:p>
            <a:pPr marL="0" indent="0" algn="r">
              <a:buNone/>
            </a:pPr>
            <a:r>
              <a:rPr lang="en-US" sz="1100" b="1" dirty="0">
                <a:solidFill>
                  <a:schemeClr val="tx1"/>
                </a:solidFill>
              </a:rPr>
              <a:t>PHI, privacy and consent</a:t>
            </a:r>
            <a:endParaRPr lang="en-US" sz="1100" dirty="0"/>
          </a:p>
        </p:txBody>
      </p:sp>
      <p:sp>
        <p:nvSpPr>
          <p:cNvPr id="51" name="Trait quality rules"/>
          <p:cNvSpPr txBox="1"/>
          <p:nvPr/>
        </p:nvSpPr>
        <p:spPr>
          <a:xfrm>
            <a:off x="8595360" y="2286000"/>
            <a:ext cx="1463040" cy="365760"/>
          </a:xfrm>
          <a:prstGeom prst="rect">
            <a:avLst/>
          </a:prstGeom>
          <a:noFill/>
          <a:ln/>
        </p:spPr>
        <p:txBody>
          <a:bodyPr wrap="square" lIns="0" tIns="0" rIns="0" bIns="0" rtlCol="0" anchor="ctr"/>
          <a:lstStyle/>
          <a:p>
            <a:pPr marL="0" indent="0" algn="l">
              <a:buNone/>
            </a:pPr>
            <a:r>
              <a:rPr lang="en-US" sz="1100" b="1" dirty="0">
                <a:solidFill>
                  <a:schemeClr val="tx1"/>
                </a:solidFill>
              </a:rPr>
              <a:t>Quality rules</a:t>
            </a:r>
            <a:endParaRPr lang="en-US" sz="1100" dirty="0"/>
          </a:p>
        </p:txBody>
      </p:sp>
      <p:sp>
        <p:nvSpPr>
          <p:cNvPr id="52" name="Trait ownership"/>
          <p:cNvSpPr txBox="1"/>
          <p:nvPr/>
        </p:nvSpPr>
        <p:spPr>
          <a:xfrm>
            <a:off x="8595360" y="2880360"/>
            <a:ext cx="1554480" cy="365760"/>
          </a:xfrm>
          <a:prstGeom prst="rect">
            <a:avLst/>
          </a:prstGeom>
          <a:noFill/>
          <a:ln/>
        </p:spPr>
        <p:txBody>
          <a:bodyPr wrap="square" lIns="0" tIns="0" rIns="0" bIns="0" rtlCol="0" anchor="ctr"/>
          <a:lstStyle/>
          <a:p>
            <a:pPr marL="0" indent="0" algn="l">
              <a:buNone/>
            </a:pPr>
            <a:r>
              <a:rPr lang="en-US" sz="1100" b="1" dirty="0">
                <a:solidFill>
                  <a:schemeClr val="tx1"/>
                </a:solidFill>
              </a:rPr>
              <a:t>Ownership and SLOs</a:t>
            </a:r>
            <a:endParaRPr lang="en-US" sz="1100" dirty="0"/>
          </a:p>
        </p:txBody>
      </p:sp>
      <p:sp>
        <p:nvSpPr>
          <p:cNvPr id="53" name="Tick left 1"/>
          <p:cNvSpPr/>
          <p:nvPr/>
        </p:nvSpPr>
        <p:spPr>
          <a:xfrm>
            <a:off x="6903720" y="2468880"/>
            <a:ext cx="182880" cy="45720"/>
          </a:xfrm>
          <a:prstGeom prst="line">
            <a:avLst/>
          </a:prstGeom>
          <a:noFill/>
          <a:ln w="9525">
            <a:solidFill>
              <a:srgbClr val="7F7F7F"/>
            </a:solidFill>
            <a:prstDash val="solid"/>
          </a:ln>
        </p:spPr>
        <p:txBody>
          <a:bodyPr/>
          <a:lstStyle/>
          <a:p>
            <a:endParaRPr lang="en-GB"/>
          </a:p>
        </p:txBody>
      </p:sp>
      <p:sp>
        <p:nvSpPr>
          <p:cNvPr id="54" name="Tick left 2"/>
          <p:cNvSpPr/>
          <p:nvPr/>
        </p:nvSpPr>
        <p:spPr>
          <a:xfrm flipV="1">
            <a:off x="6903720" y="3017520"/>
            <a:ext cx="182880" cy="45720"/>
          </a:xfrm>
          <a:prstGeom prst="line">
            <a:avLst/>
          </a:prstGeom>
          <a:noFill/>
          <a:ln w="9525">
            <a:solidFill>
              <a:srgbClr val="7F7F7F"/>
            </a:solidFill>
            <a:prstDash val="solid"/>
          </a:ln>
        </p:spPr>
        <p:txBody>
          <a:bodyPr/>
          <a:lstStyle/>
          <a:p>
            <a:endParaRPr lang="en-GB"/>
          </a:p>
        </p:txBody>
      </p:sp>
      <p:sp>
        <p:nvSpPr>
          <p:cNvPr id="55" name="Tick right 1"/>
          <p:cNvSpPr/>
          <p:nvPr/>
        </p:nvSpPr>
        <p:spPr>
          <a:xfrm flipV="1">
            <a:off x="8366760" y="2468880"/>
            <a:ext cx="182880" cy="45720"/>
          </a:xfrm>
          <a:prstGeom prst="line">
            <a:avLst/>
          </a:prstGeom>
          <a:noFill/>
          <a:ln w="9525">
            <a:solidFill>
              <a:srgbClr val="7F7F7F"/>
            </a:solidFill>
            <a:prstDash val="solid"/>
          </a:ln>
        </p:spPr>
        <p:txBody>
          <a:bodyPr/>
          <a:lstStyle/>
          <a:p>
            <a:endParaRPr lang="en-GB"/>
          </a:p>
        </p:txBody>
      </p:sp>
      <p:sp>
        <p:nvSpPr>
          <p:cNvPr id="56" name="Tick right 2"/>
          <p:cNvSpPr/>
          <p:nvPr/>
        </p:nvSpPr>
        <p:spPr>
          <a:xfrm>
            <a:off x="8366760" y="3017520"/>
            <a:ext cx="182880" cy="45720"/>
          </a:xfrm>
          <a:prstGeom prst="line">
            <a:avLst/>
          </a:prstGeom>
          <a:noFill/>
          <a:ln w="9525">
            <a:solidFill>
              <a:srgbClr val="7F7F7F"/>
            </a:solidFill>
            <a:prstDash val="solid"/>
          </a:ln>
        </p:spPr>
        <p:txBody>
          <a:bodyPr/>
          <a:lstStyle/>
          <a:p>
            <a:endParaRPr lang="en-GB"/>
          </a:p>
        </p:txBody>
      </p:sp>
      <p:sp>
        <p:nvSpPr>
          <p:cNvPr id="57" name="Trait lineage"/>
          <p:cNvSpPr txBox="1"/>
          <p:nvPr/>
        </p:nvSpPr>
        <p:spPr>
          <a:xfrm>
            <a:off x="6995160" y="3429000"/>
            <a:ext cx="1463040" cy="365760"/>
          </a:xfrm>
          <a:prstGeom prst="rect">
            <a:avLst/>
          </a:prstGeom>
          <a:noFill/>
          <a:ln/>
        </p:spPr>
        <p:txBody>
          <a:bodyPr wrap="square" lIns="0" tIns="0" rIns="0" bIns="0" rtlCol="0" anchor="ctr"/>
          <a:lstStyle/>
          <a:p>
            <a:pPr marL="0" indent="0" algn="ctr">
              <a:buNone/>
            </a:pPr>
            <a:r>
              <a:rPr lang="en-US" sz="1100" b="1" dirty="0">
                <a:solidFill>
                  <a:schemeClr val="tx1"/>
                </a:solidFill>
              </a:rPr>
              <a:t>Lineage</a:t>
            </a:r>
            <a:endParaRPr lang="en-US" sz="1100" dirty="0"/>
          </a:p>
        </p:txBody>
      </p:sp>
      <p:sp>
        <p:nvSpPr>
          <p:cNvPr id="58" name="Tick bottom"/>
          <p:cNvSpPr/>
          <p:nvPr/>
        </p:nvSpPr>
        <p:spPr>
          <a:xfrm>
            <a:off x="7726680" y="3328416"/>
            <a:ext cx="914" cy="128016"/>
          </a:xfrm>
          <a:prstGeom prst="line">
            <a:avLst/>
          </a:prstGeom>
          <a:noFill/>
          <a:ln w="9525">
            <a:solidFill>
              <a:srgbClr val="7F7F7F"/>
            </a:solidFill>
            <a:prstDash val="solid"/>
          </a:ln>
        </p:spPr>
        <p:txBody>
          <a:bodyPr/>
          <a:lstStyle/>
          <a:p>
            <a:endParaRPr lang="en-GB"/>
          </a:p>
        </p:txBody>
      </p:sp>
      <p:sp>
        <p:nvSpPr>
          <p:cNvPr id="59" name="AI layer frame"/>
          <p:cNvSpPr/>
          <p:nvPr/>
        </p:nvSpPr>
        <p:spPr>
          <a:xfrm>
            <a:off x="5486400" y="4069080"/>
            <a:ext cx="4480560" cy="1691640"/>
          </a:xfrm>
          <a:prstGeom prst="rect">
            <a:avLst/>
          </a:prstGeom>
          <a:solidFill>
            <a:schemeClr val="bg1"/>
          </a:solidFill>
          <a:ln w="9525">
            <a:solidFill>
              <a:srgbClr val="BFBFBF"/>
            </a:solidFill>
            <a:prstDash val="solid"/>
          </a:ln>
        </p:spPr>
        <p:txBody>
          <a:bodyPr/>
          <a:lstStyle/>
          <a:p>
            <a:endParaRPr lang="en-GB"/>
          </a:p>
        </p:txBody>
      </p:sp>
      <p:sp>
        <p:nvSpPr>
          <p:cNvPr id="60" name="AI layer header"/>
          <p:cNvSpPr txBox="1"/>
          <p:nvPr/>
        </p:nvSpPr>
        <p:spPr>
          <a:xfrm>
            <a:off x="5486400" y="4069080"/>
            <a:ext cx="4480560" cy="411480"/>
          </a:xfrm>
          <a:prstGeom prst="rect">
            <a:avLst/>
          </a:prstGeom>
          <a:solidFill>
            <a:schemeClr val="accent2"/>
          </a:solidFill>
          <a:ln/>
        </p:spPr>
        <p:txBody>
          <a:bodyPr wrap="square" lIns="0" tIns="0" rIns="0" bIns="0" rtlCol="0" anchor="ctr"/>
          <a:lstStyle/>
          <a:p>
            <a:pPr marL="0" indent="0" algn="ctr">
              <a:buNone/>
            </a:pPr>
            <a:r>
              <a:rPr lang="en-US" sz="1300" b="1" dirty="0">
                <a:solidFill>
                  <a:schemeClr val="bg1"/>
                </a:solidFill>
              </a:rPr>
              <a:t>AI enablement layer</a:t>
            </a:r>
            <a:endParaRPr lang="en-US" sz="1300" dirty="0"/>
          </a:p>
        </p:txBody>
      </p:sp>
      <p:sp>
        <p:nvSpPr>
          <p:cNvPr id="61" name="Badge 4"/>
          <p:cNvSpPr/>
          <p:nvPr/>
        </p:nvSpPr>
        <p:spPr>
          <a:xfrm>
            <a:off x="5596128" y="4137660"/>
            <a:ext cx="274320" cy="274320"/>
          </a:xfrm>
          <a:prstGeom prst="ellipse">
            <a:avLst/>
          </a:prstGeom>
          <a:solidFill>
            <a:schemeClr val="bg1"/>
          </a:solidFill>
          <a:ln w="19050">
            <a:solidFill>
              <a:schemeClr val="accent2"/>
            </a:solidFill>
            <a:prstDash val="solid"/>
          </a:ln>
        </p:spPr>
        <p:txBody>
          <a:bodyPr/>
          <a:lstStyle/>
          <a:p>
            <a:endParaRPr lang="en-GB"/>
          </a:p>
        </p:txBody>
      </p:sp>
      <p:sp>
        <p:nvSpPr>
          <p:cNvPr id="62" name="Badge 4 number"/>
          <p:cNvSpPr txBox="1"/>
          <p:nvPr/>
        </p:nvSpPr>
        <p:spPr>
          <a:xfrm>
            <a:off x="5596128" y="4137660"/>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4</a:t>
            </a:r>
            <a:endParaRPr lang="en-US" sz="1100" dirty="0"/>
          </a:p>
        </p:txBody>
      </p:sp>
      <p:sp>
        <p:nvSpPr>
          <p:cNvPr id="63" name="LLM gateway box"/>
          <p:cNvSpPr txBox="1"/>
          <p:nvPr/>
        </p:nvSpPr>
        <p:spPr>
          <a:xfrm>
            <a:off x="5596128" y="4599432"/>
            <a:ext cx="996696" cy="566928"/>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050" b="1" dirty="0">
                <a:solidFill>
                  <a:schemeClr val="tx1"/>
                </a:solidFill>
              </a:rPr>
              <a:t>Model / LLM gateway</a:t>
            </a:r>
            <a:endParaRPr lang="en-US" sz="1050" dirty="0"/>
          </a:p>
        </p:txBody>
      </p:sp>
      <p:sp>
        <p:nvSpPr>
          <p:cNvPr id="64" name="RAG and vector store box"/>
          <p:cNvSpPr txBox="1"/>
          <p:nvPr/>
        </p:nvSpPr>
        <p:spPr>
          <a:xfrm>
            <a:off x="6684264" y="4599432"/>
            <a:ext cx="996696" cy="566928"/>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050" b="1" dirty="0">
                <a:solidFill>
                  <a:schemeClr val="tx1"/>
                </a:solidFill>
              </a:rPr>
              <a:t>RAG and vector services</a:t>
            </a:r>
            <a:endParaRPr lang="en-US" sz="1050" dirty="0"/>
          </a:p>
        </p:txBody>
      </p:sp>
      <p:sp>
        <p:nvSpPr>
          <p:cNvPr id="65" name="Feature store box"/>
          <p:cNvSpPr txBox="1"/>
          <p:nvPr/>
        </p:nvSpPr>
        <p:spPr>
          <a:xfrm>
            <a:off x="7772400" y="4599432"/>
            <a:ext cx="996696" cy="566928"/>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050" b="1" dirty="0">
                <a:solidFill>
                  <a:schemeClr val="tx1"/>
                </a:solidFill>
              </a:rPr>
              <a:t>Feature store</a:t>
            </a:r>
            <a:endParaRPr lang="en-US" sz="1050" dirty="0"/>
          </a:p>
        </p:txBody>
      </p:sp>
      <p:sp>
        <p:nvSpPr>
          <p:cNvPr id="66" name="Guardrails and evals box"/>
          <p:cNvSpPr txBox="1"/>
          <p:nvPr/>
        </p:nvSpPr>
        <p:spPr>
          <a:xfrm>
            <a:off x="8860536" y="4599432"/>
            <a:ext cx="996696" cy="566928"/>
          </a:xfrm>
          <a:prstGeom prst="rect">
            <a:avLst/>
          </a:prstGeom>
          <a:noFill/>
          <a:ln w="12700">
            <a:solidFill>
              <a:schemeClr val="accent4"/>
            </a:solidFill>
            <a:prstDash val="dash"/>
          </a:ln>
        </p:spPr>
        <p:txBody>
          <a:bodyPr wrap="square" lIns="381" tIns="381" rIns="381" bIns="381" rtlCol="0" anchor="ctr"/>
          <a:lstStyle/>
          <a:p>
            <a:pPr marL="0" indent="0" algn="ctr">
              <a:buNone/>
            </a:pPr>
            <a:r>
              <a:rPr lang="en-US" sz="1050" b="1" dirty="0">
                <a:solidFill>
                  <a:schemeClr val="tx1"/>
                </a:solidFill>
              </a:rPr>
              <a:t>Guardrails and evaluations</a:t>
            </a:r>
            <a:endParaRPr lang="en-US" sz="1050" dirty="0"/>
          </a:p>
        </p:txBody>
      </p:sp>
      <p:sp>
        <p:nvSpPr>
          <p:cNvPr id="67" name="LLMOps box"/>
          <p:cNvSpPr txBox="1"/>
          <p:nvPr/>
        </p:nvSpPr>
        <p:spPr>
          <a:xfrm>
            <a:off x="5596128" y="5266944"/>
            <a:ext cx="4261104" cy="347472"/>
          </a:xfrm>
          <a:prstGeom prst="rect">
            <a:avLst/>
          </a:prstGeom>
          <a:noFill/>
          <a:ln w="12700">
            <a:solidFill>
              <a:schemeClr val="accent4"/>
            </a:solidFill>
            <a:prstDash val="dash"/>
          </a:ln>
        </p:spPr>
        <p:txBody>
          <a:bodyPr wrap="square" lIns="0" tIns="0" rIns="0" bIns="0" rtlCol="0" anchor="ctr"/>
          <a:lstStyle/>
          <a:p>
            <a:pPr marL="0" indent="0" algn="ctr">
              <a:buNone/>
            </a:pPr>
            <a:r>
              <a:rPr lang="en-US" sz="1100" b="1" dirty="0">
                <a:solidFill>
                  <a:schemeClr val="tx1"/>
                </a:solidFill>
              </a:rPr>
              <a:t>MLOps / LLMOps observability</a:t>
            </a:r>
            <a:endParaRPr lang="en-US" sz="1100" dirty="0"/>
          </a:p>
        </p:txBody>
      </p:sp>
      <p:sp>
        <p:nvSpPr>
          <p:cNvPr id="68" name="Products down"/>
          <p:cNvSpPr/>
          <p:nvPr/>
        </p:nvSpPr>
        <p:spPr>
          <a:xfrm>
            <a:off x="9418320" y="3858768"/>
            <a:ext cx="1" cy="192024"/>
          </a:xfrm>
          <a:prstGeom prst="line">
            <a:avLst/>
          </a:prstGeom>
          <a:noFill/>
          <a:ln w="19050">
            <a:solidFill>
              <a:srgbClr val="7F7F7F"/>
            </a:solidFill>
            <a:prstDash val="solid"/>
            <a:tailEnd type="triangle"/>
          </a:ln>
        </p:spPr>
        <p:txBody>
          <a:bodyPr/>
          <a:lstStyle/>
          <a:p>
            <a:endParaRPr lang="en-GB"/>
          </a:p>
        </p:txBody>
      </p:sp>
      <p:sp>
        <p:nvSpPr>
          <p:cNvPr id="69" name="AI layer up"/>
          <p:cNvSpPr/>
          <p:nvPr/>
        </p:nvSpPr>
        <p:spPr>
          <a:xfrm>
            <a:off x="9646920" y="3858768"/>
            <a:ext cx="1" cy="192024"/>
          </a:xfrm>
          <a:prstGeom prst="line">
            <a:avLst/>
          </a:prstGeom>
          <a:noFill/>
          <a:ln w="19050">
            <a:solidFill>
              <a:srgbClr val="7F7F7F"/>
            </a:solidFill>
            <a:prstDash val="solid"/>
            <a:headEnd type="triangle"/>
          </a:ln>
        </p:spPr>
        <p:txBody>
          <a:bodyPr/>
          <a:lstStyle/>
          <a:p>
            <a:endParaRPr lang="en-GB"/>
          </a:p>
        </p:txBody>
      </p:sp>
      <p:sp>
        <p:nvSpPr>
          <p:cNvPr id="70" name="Data marketplace and exchange bar"/>
          <p:cNvSpPr txBox="1"/>
          <p:nvPr/>
        </p:nvSpPr>
        <p:spPr>
          <a:xfrm>
            <a:off x="10149840" y="1325880"/>
            <a:ext cx="685800" cy="4434840"/>
          </a:xfrm>
          <a:prstGeom prst="rect">
            <a:avLst/>
          </a:prstGeom>
          <a:solidFill>
            <a:schemeClr val="accent2"/>
          </a:solidFill>
          <a:ln/>
        </p:spPr>
        <p:txBody>
          <a:bodyPr vert="vert270" wrap="square" lIns="0" tIns="0" rIns="0" bIns="0" rtlCol="0" anchor="ctr"/>
          <a:lstStyle/>
          <a:p>
            <a:pPr marL="0" indent="0" algn="ctr">
              <a:buNone/>
            </a:pPr>
            <a:r>
              <a:rPr lang="en-US" sz="1300" b="1" dirty="0">
                <a:solidFill>
                  <a:schemeClr val="bg1"/>
                </a:solidFill>
              </a:rPr>
              <a:t>Data marketplace and exchange</a:t>
            </a:r>
            <a:endParaRPr lang="en-US" sz="1300" dirty="0"/>
          </a:p>
        </p:txBody>
      </p:sp>
      <p:sp>
        <p:nvSpPr>
          <p:cNvPr id="71" name="Claims, billing and underwriting Gen AI bar"/>
          <p:cNvSpPr txBox="1"/>
          <p:nvPr/>
        </p:nvSpPr>
        <p:spPr>
          <a:xfrm>
            <a:off x="11018520" y="1325880"/>
            <a:ext cx="685800" cy="4434840"/>
          </a:xfrm>
          <a:prstGeom prst="rect">
            <a:avLst/>
          </a:prstGeom>
          <a:solidFill>
            <a:schemeClr val="accent3"/>
          </a:solidFill>
          <a:ln/>
        </p:spPr>
        <p:txBody>
          <a:bodyPr vert="vert270" wrap="square" lIns="0" tIns="0" rIns="0" bIns="0" rtlCol="0" anchor="ctr"/>
          <a:lstStyle/>
          <a:p>
            <a:pPr marL="0" indent="0" algn="ctr">
              <a:buNone/>
            </a:pPr>
            <a:r>
              <a:rPr lang="en-US" sz="1300" b="1" dirty="0">
                <a:solidFill>
                  <a:schemeClr val="bg1"/>
                </a:solidFill>
              </a:rPr>
              <a:t>Devices &amp; apps, billing and underwriting Gen AI</a:t>
            </a:r>
            <a:endParaRPr lang="en-US" sz="1300" dirty="0"/>
          </a:p>
        </p:txBody>
      </p:sp>
      <p:sp>
        <p:nvSpPr>
          <p:cNvPr id="72" name="Steps strip"/>
          <p:cNvSpPr/>
          <p:nvPr/>
        </p:nvSpPr>
        <p:spPr>
          <a:xfrm>
            <a:off x="457200" y="5943600"/>
            <a:ext cx="11247120" cy="502920"/>
          </a:xfrm>
          <a:prstGeom prst="rect">
            <a:avLst/>
          </a:prstGeom>
          <a:solidFill>
            <a:schemeClr val="bg2"/>
          </a:solidFill>
          <a:ln w="12700">
            <a:solidFill>
              <a:schemeClr val="bg2"/>
            </a:solidFill>
            <a:prstDash val="solid"/>
          </a:ln>
        </p:spPr>
        <p:txBody>
          <a:bodyPr/>
          <a:lstStyle/>
          <a:p>
            <a:endParaRPr lang="en-GB"/>
          </a:p>
        </p:txBody>
      </p:sp>
      <p:sp>
        <p:nvSpPr>
          <p:cNvPr id="73" name="Badge 1"/>
          <p:cNvSpPr/>
          <p:nvPr/>
        </p:nvSpPr>
        <p:spPr>
          <a:xfrm>
            <a:off x="685800" y="6057900"/>
            <a:ext cx="274320" cy="274320"/>
          </a:xfrm>
          <a:prstGeom prst="ellipse">
            <a:avLst/>
          </a:prstGeom>
          <a:solidFill>
            <a:schemeClr val="bg1"/>
          </a:solidFill>
          <a:ln w="19050">
            <a:solidFill>
              <a:schemeClr val="accent2"/>
            </a:solidFill>
            <a:prstDash val="solid"/>
          </a:ln>
        </p:spPr>
        <p:txBody>
          <a:bodyPr/>
          <a:lstStyle/>
          <a:p>
            <a:endParaRPr lang="en-GB"/>
          </a:p>
        </p:txBody>
      </p:sp>
      <p:sp>
        <p:nvSpPr>
          <p:cNvPr id="74" name="Badge 1 number"/>
          <p:cNvSpPr txBox="1"/>
          <p:nvPr/>
        </p:nvSpPr>
        <p:spPr>
          <a:xfrm>
            <a:off x="685800" y="6057900"/>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1</a:t>
            </a:r>
            <a:endParaRPr lang="en-US" sz="1100" dirty="0"/>
          </a:p>
        </p:txBody>
      </p:sp>
      <p:sp>
        <p:nvSpPr>
          <p:cNvPr id="75" name="Step Extract"/>
          <p:cNvSpPr txBox="1"/>
          <p:nvPr/>
        </p:nvSpPr>
        <p:spPr>
          <a:xfrm>
            <a:off x="1051560" y="5943600"/>
            <a:ext cx="1737360" cy="502920"/>
          </a:xfrm>
          <a:prstGeom prst="rect">
            <a:avLst/>
          </a:prstGeom>
          <a:noFill/>
          <a:ln/>
        </p:spPr>
        <p:txBody>
          <a:bodyPr wrap="square" lIns="0" tIns="0" rIns="0" bIns="0" rtlCol="0" anchor="ctr"/>
          <a:lstStyle/>
          <a:p>
            <a:pPr marL="0" indent="0">
              <a:buNone/>
            </a:pPr>
            <a:r>
              <a:rPr lang="en-US" sz="1400" b="1" dirty="0">
                <a:solidFill>
                  <a:schemeClr val="tx1"/>
                </a:solidFill>
              </a:rPr>
              <a:t>Extract</a:t>
            </a:r>
            <a:endParaRPr lang="en-US" sz="1400" dirty="0"/>
          </a:p>
        </p:txBody>
      </p:sp>
      <p:sp>
        <p:nvSpPr>
          <p:cNvPr id="76" name="Badge 2"/>
          <p:cNvSpPr/>
          <p:nvPr/>
        </p:nvSpPr>
        <p:spPr>
          <a:xfrm>
            <a:off x="2935224" y="6057900"/>
            <a:ext cx="274320" cy="274320"/>
          </a:xfrm>
          <a:prstGeom prst="ellipse">
            <a:avLst/>
          </a:prstGeom>
          <a:solidFill>
            <a:schemeClr val="bg1"/>
          </a:solidFill>
          <a:ln w="19050">
            <a:solidFill>
              <a:schemeClr val="accent2"/>
            </a:solidFill>
            <a:prstDash val="solid"/>
          </a:ln>
        </p:spPr>
        <p:txBody>
          <a:bodyPr/>
          <a:lstStyle/>
          <a:p>
            <a:endParaRPr lang="en-GB"/>
          </a:p>
        </p:txBody>
      </p:sp>
      <p:sp>
        <p:nvSpPr>
          <p:cNvPr id="77" name="Badge 2 number"/>
          <p:cNvSpPr txBox="1"/>
          <p:nvPr/>
        </p:nvSpPr>
        <p:spPr>
          <a:xfrm>
            <a:off x="2935224" y="6057900"/>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2</a:t>
            </a:r>
            <a:endParaRPr lang="en-US" sz="1100" dirty="0"/>
          </a:p>
        </p:txBody>
      </p:sp>
      <p:sp>
        <p:nvSpPr>
          <p:cNvPr id="78" name="Step Enrich"/>
          <p:cNvSpPr txBox="1"/>
          <p:nvPr/>
        </p:nvSpPr>
        <p:spPr>
          <a:xfrm>
            <a:off x="3300984" y="5943600"/>
            <a:ext cx="1737360" cy="502920"/>
          </a:xfrm>
          <a:prstGeom prst="rect">
            <a:avLst/>
          </a:prstGeom>
          <a:noFill/>
          <a:ln/>
        </p:spPr>
        <p:txBody>
          <a:bodyPr wrap="square" lIns="0" tIns="0" rIns="0" bIns="0" rtlCol="0" anchor="ctr"/>
          <a:lstStyle/>
          <a:p>
            <a:pPr marL="0" indent="0">
              <a:buNone/>
            </a:pPr>
            <a:r>
              <a:rPr lang="en-US" sz="1400" b="1" dirty="0">
                <a:solidFill>
                  <a:schemeClr val="tx1"/>
                </a:solidFill>
              </a:rPr>
              <a:t>Enrich</a:t>
            </a:r>
            <a:endParaRPr lang="en-US" sz="1400" dirty="0"/>
          </a:p>
        </p:txBody>
      </p:sp>
      <p:sp>
        <p:nvSpPr>
          <p:cNvPr id="79" name="Badge 3"/>
          <p:cNvSpPr/>
          <p:nvPr/>
        </p:nvSpPr>
        <p:spPr>
          <a:xfrm>
            <a:off x="5184648" y="6057900"/>
            <a:ext cx="274320" cy="274320"/>
          </a:xfrm>
          <a:prstGeom prst="ellipse">
            <a:avLst/>
          </a:prstGeom>
          <a:solidFill>
            <a:schemeClr val="bg1"/>
          </a:solidFill>
          <a:ln w="19050">
            <a:solidFill>
              <a:schemeClr val="accent2"/>
            </a:solidFill>
            <a:prstDash val="solid"/>
          </a:ln>
        </p:spPr>
        <p:txBody>
          <a:bodyPr/>
          <a:lstStyle/>
          <a:p>
            <a:endParaRPr lang="en-GB"/>
          </a:p>
        </p:txBody>
      </p:sp>
      <p:sp>
        <p:nvSpPr>
          <p:cNvPr id="80" name="Badge 3 number"/>
          <p:cNvSpPr txBox="1"/>
          <p:nvPr/>
        </p:nvSpPr>
        <p:spPr>
          <a:xfrm>
            <a:off x="5184648" y="6057900"/>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3</a:t>
            </a:r>
            <a:endParaRPr lang="en-US" sz="1100" dirty="0"/>
          </a:p>
        </p:txBody>
      </p:sp>
      <p:sp>
        <p:nvSpPr>
          <p:cNvPr id="81" name="Step Productize"/>
          <p:cNvSpPr txBox="1"/>
          <p:nvPr/>
        </p:nvSpPr>
        <p:spPr>
          <a:xfrm>
            <a:off x="5550408" y="5943600"/>
            <a:ext cx="1737360" cy="502920"/>
          </a:xfrm>
          <a:prstGeom prst="rect">
            <a:avLst/>
          </a:prstGeom>
          <a:noFill/>
          <a:ln/>
        </p:spPr>
        <p:txBody>
          <a:bodyPr wrap="square" lIns="0" tIns="0" rIns="0" bIns="0" rtlCol="0" anchor="ctr"/>
          <a:lstStyle/>
          <a:p>
            <a:pPr marL="0" indent="0">
              <a:buNone/>
            </a:pPr>
            <a:r>
              <a:rPr lang="en-US" sz="1400" b="1" dirty="0">
                <a:solidFill>
                  <a:schemeClr val="tx1"/>
                </a:solidFill>
              </a:rPr>
              <a:t>Productize</a:t>
            </a:r>
            <a:endParaRPr lang="en-US" sz="1400" dirty="0"/>
          </a:p>
        </p:txBody>
      </p:sp>
      <p:sp>
        <p:nvSpPr>
          <p:cNvPr id="82" name="Badge 4"/>
          <p:cNvSpPr/>
          <p:nvPr/>
        </p:nvSpPr>
        <p:spPr>
          <a:xfrm>
            <a:off x="7434072" y="6057900"/>
            <a:ext cx="274320" cy="274320"/>
          </a:xfrm>
          <a:prstGeom prst="ellipse">
            <a:avLst/>
          </a:prstGeom>
          <a:solidFill>
            <a:schemeClr val="bg1"/>
          </a:solidFill>
          <a:ln w="19050">
            <a:solidFill>
              <a:schemeClr val="accent2"/>
            </a:solidFill>
            <a:prstDash val="solid"/>
          </a:ln>
        </p:spPr>
        <p:txBody>
          <a:bodyPr/>
          <a:lstStyle/>
          <a:p>
            <a:endParaRPr lang="en-GB"/>
          </a:p>
        </p:txBody>
      </p:sp>
      <p:sp>
        <p:nvSpPr>
          <p:cNvPr id="83" name="Badge 4 number"/>
          <p:cNvSpPr txBox="1"/>
          <p:nvPr/>
        </p:nvSpPr>
        <p:spPr>
          <a:xfrm>
            <a:off x="7434072" y="6057900"/>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4</a:t>
            </a:r>
            <a:endParaRPr lang="en-US" sz="1100" dirty="0"/>
          </a:p>
        </p:txBody>
      </p:sp>
      <p:sp>
        <p:nvSpPr>
          <p:cNvPr id="84" name="Step Activate"/>
          <p:cNvSpPr txBox="1"/>
          <p:nvPr/>
        </p:nvSpPr>
        <p:spPr>
          <a:xfrm>
            <a:off x="7799832" y="5943600"/>
            <a:ext cx="1737360" cy="502920"/>
          </a:xfrm>
          <a:prstGeom prst="rect">
            <a:avLst/>
          </a:prstGeom>
          <a:noFill/>
          <a:ln/>
        </p:spPr>
        <p:txBody>
          <a:bodyPr wrap="square" lIns="0" tIns="0" rIns="0" bIns="0" rtlCol="0" anchor="ctr"/>
          <a:lstStyle/>
          <a:p>
            <a:pPr marL="0" indent="0">
              <a:buNone/>
            </a:pPr>
            <a:r>
              <a:rPr lang="en-US" sz="1400" b="1" dirty="0">
                <a:solidFill>
                  <a:schemeClr val="tx1"/>
                </a:solidFill>
              </a:rPr>
              <a:t>Activate</a:t>
            </a:r>
            <a:endParaRPr lang="en-US" sz="1400" dirty="0"/>
          </a:p>
        </p:txBody>
      </p:sp>
      <p:sp>
        <p:nvSpPr>
          <p:cNvPr id="85" name="Badge 5"/>
          <p:cNvSpPr/>
          <p:nvPr/>
        </p:nvSpPr>
        <p:spPr>
          <a:xfrm>
            <a:off x="9683496" y="6057900"/>
            <a:ext cx="274320" cy="274320"/>
          </a:xfrm>
          <a:prstGeom prst="ellipse">
            <a:avLst/>
          </a:prstGeom>
          <a:solidFill>
            <a:schemeClr val="bg1"/>
          </a:solidFill>
          <a:ln w="19050">
            <a:solidFill>
              <a:schemeClr val="accent2"/>
            </a:solidFill>
            <a:prstDash val="solid"/>
          </a:ln>
        </p:spPr>
        <p:txBody>
          <a:bodyPr/>
          <a:lstStyle/>
          <a:p>
            <a:endParaRPr lang="en-GB"/>
          </a:p>
        </p:txBody>
      </p:sp>
      <p:sp>
        <p:nvSpPr>
          <p:cNvPr id="86" name="Badge 5 number"/>
          <p:cNvSpPr txBox="1"/>
          <p:nvPr/>
        </p:nvSpPr>
        <p:spPr>
          <a:xfrm>
            <a:off x="9683496" y="6057900"/>
            <a:ext cx="274320" cy="274320"/>
          </a:xfrm>
          <a:prstGeom prst="rect">
            <a:avLst/>
          </a:prstGeom>
          <a:noFill/>
          <a:ln/>
        </p:spPr>
        <p:txBody>
          <a:bodyPr wrap="square" lIns="0" tIns="0" rIns="0" bIns="0" rtlCol="0" anchor="ctr"/>
          <a:lstStyle/>
          <a:p>
            <a:pPr marL="0" indent="0" algn="ctr">
              <a:buNone/>
            </a:pPr>
            <a:r>
              <a:rPr lang="en-US" sz="1100" b="1" dirty="0">
                <a:solidFill>
                  <a:schemeClr val="accent2"/>
                </a:solidFill>
              </a:rPr>
              <a:t>5</a:t>
            </a:r>
            <a:endParaRPr lang="en-US" sz="1100" dirty="0"/>
          </a:p>
        </p:txBody>
      </p:sp>
      <p:sp>
        <p:nvSpPr>
          <p:cNvPr id="87" name="Step Remediate"/>
          <p:cNvSpPr txBox="1"/>
          <p:nvPr/>
        </p:nvSpPr>
        <p:spPr>
          <a:xfrm>
            <a:off x="10049256" y="5943600"/>
            <a:ext cx="1737360" cy="502920"/>
          </a:xfrm>
          <a:prstGeom prst="rect">
            <a:avLst/>
          </a:prstGeom>
          <a:noFill/>
          <a:ln/>
        </p:spPr>
        <p:txBody>
          <a:bodyPr wrap="square" lIns="0" tIns="0" rIns="0" bIns="0" rtlCol="0" anchor="ctr"/>
          <a:lstStyle/>
          <a:p>
            <a:pPr marL="0" indent="0">
              <a:buNone/>
            </a:pPr>
            <a:r>
              <a:rPr lang="en-US" sz="1400" b="1" dirty="0">
                <a:solidFill>
                  <a:schemeClr val="tx1"/>
                </a:solidFill>
              </a:rPr>
              <a:t>Improve</a:t>
            </a:r>
            <a:endParaRPr lang="en-US" sz="1400" dirty="0"/>
          </a:p>
        </p:txBody>
      </p:sp>
      <p:sp>
        <p:nvSpPr>
          <p:cNvPr id="88"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a:spLocks noGrp="1"/>
          </p:cNvSpPr>
          <p:nvPr>
            <p:ph type="title" idx="100" hasCustomPrompt="1"/>
          </p:nvPr>
        </p:nvSpPr>
        <p:spPr>
          <a:xfrm>
            <a:off x="502920" y="45720"/>
            <a:ext cx="11247120" cy="868680"/>
          </a:xfrm>
          <a:prstGeom prst="rect">
            <a:avLst/>
          </a:prstGeom>
          <a:noFill/>
          <a:ln/>
        </p:spPr>
        <p:txBody>
          <a:bodyPr wrap="square" lIns="0" tIns="0" rIns="0" bIns="0" rtlCol="0" anchor="ctr"/>
          <a:lstStyle/>
          <a:p>
            <a:pPr marL="0" indent="0" algn="l">
              <a:buNone/>
            </a:pPr>
            <a:r>
              <a:rPr lang="en-US" sz="2800" b="1" dirty="0">
                <a:solidFill>
                  <a:schemeClr val="tx1"/>
                </a:solidFill>
              </a:rPr>
              <a:t>Three tiers of diabetes data products, one set of traits</a:t>
            </a:r>
            <a:endParaRPr lang="en-US" sz="2800" dirty="0"/>
          </a:p>
        </p:txBody>
      </p:sp>
      <p:sp>
        <p:nvSpPr>
          <p:cNvPr id="3" name="Tiers heading"/>
          <p:cNvSpPr txBox="1"/>
          <p:nvPr/>
        </p:nvSpPr>
        <p:spPr>
          <a:xfrm>
            <a:off x="548639" y="1234440"/>
            <a:ext cx="5212081" cy="320040"/>
          </a:xfrm>
          <a:prstGeom prst="rect">
            <a:avLst/>
          </a:prstGeom>
          <a:noFill/>
          <a:ln/>
        </p:spPr>
        <p:txBody>
          <a:bodyPr wrap="square" lIns="0" tIns="0" rIns="0" bIns="0" rtlCol="0" anchor="ctr"/>
          <a:lstStyle/>
          <a:p>
            <a:pPr marL="0" indent="0">
              <a:buNone/>
            </a:pPr>
            <a:r>
              <a:rPr lang="en-US" sz="1800" b="1" dirty="0">
                <a:solidFill>
                  <a:schemeClr val="tx1"/>
                </a:solidFill>
              </a:rPr>
              <a:t>Data product tiers and the AI / analytics they enable</a:t>
            </a:r>
            <a:endParaRPr lang="en-US" sz="1800" dirty="0"/>
          </a:p>
        </p:txBody>
      </p:sp>
      <p:sp>
        <p:nvSpPr>
          <p:cNvPr id="4" name="Traits heading"/>
          <p:cNvSpPr txBox="1"/>
          <p:nvPr/>
        </p:nvSpPr>
        <p:spPr>
          <a:xfrm>
            <a:off x="6126480" y="1234440"/>
            <a:ext cx="5486400" cy="320040"/>
          </a:xfrm>
          <a:prstGeom prst="rect">
            <a:avLst/>
          </a:prstGeom>
          <a:noFill/>
          <a:ln/>
        </p:spPr>
        <p:txBody>
          <a:bodyPr wrap="square" lIns="0" tIns="0" rIns="0" bIns="0" rtlCol="0" anchor="ctr"/>
          <a:lstStyle/>
          <a:p>
            <a:pPr marL="0" indent="0">
              <a:buNone/>
            </a:pPr>
            <a:r>
              <a:rPr lang="en-US" sz="1800" b="1" dirty="0">
                <a:solidFill>
                  <a:schemeClr val="tx1"/>
                </a:solidFill>
              </a:rPr>
              <a:t>Common traits every product meets</a:t>
            </a:r>
            <a:endParaRPr lang="en-US" sz="1800" dirty="0"/>
          </a:p>
        </p:txBody>
      </p:sp>
      <p:sp>
        <p:nvSpPr>
          <p:cNvPr id="5" name="Core tier panel"/>
          <p:cNvSpPr/>
          <p:nvPr/>
        </p:nvSpPr>
        <p:spPr>
          <a:xfrm>
            <a:off x="1737360" y="1691640"/>
            <a:ext cx="4023360" cy="1097280"/>
          </a:xfrm>
          <a:prstGeom prst="rect">
            <a:avLst/>
          </a:prstGeom>
          <a:solidFill>
            <a:schemeClr val="bg2"/>
          </a:solidFill>
          <a:ln w="12700">
            <a:solidFill>
              <a:schemeClr val="bg2"/>
            </a:solidFill>
            <a:prstDash val="solid"/>
          </a:ln>
        </p:spPr>
        <p:txBody>
          <a:bodyPr/>
          <a:lstStyle/>
          <a:p>
            <a:endParaRPr lang="en-GB"/>
          </a:p>
        </p:txBody>
      </p:sp>
      <p:sp>
        <p:nvSpPr>
          <p:cNvPr id="6" name="Core tier label"/>
          <p:cNvSpPr txBox="1"/>
          <p:nvPr/>
        </p:nvSpPr>
        <p:spPr>
          <a:xfrm>
            <a:off x="548640" y="1691640"/>
            <a:ext cx="1188720" cy="1097280"/>
          </a:xfrm>
          <a:prstGeom prst="rect">
            <a:avLst/>
          </a:prstGeom>
          <a:solidFill>
            <a:schemeClr val="accent3"/>
          </a:solidFill>
          <a:ln/>
        </p:spPr>
        <p:txBody>
          <a:bodyPr wrap="square" lIns="0" tIns="0" rIns="0" bIns="0" rtlCol="0" anchor="ctr"/>
          <a:lstStyle/>
          <a:p>
            <a:pPr marL="0" indent="0" algn="ctr">
              <a:buNone/>
            </a:pPr>
            <a:r>
              <a:rPr lang="en-US" sz="1600" b="1" dirty="0">
                <a:solidFill>
                  <a:schemeClr val="bg1"/>
                </a:solidFill>
              </a:rPr>
              <a:t>Core</a:t>
            </a:r>
            <a:endParaRPr lang="en-US" sz="1600" dirty="0"/>
          </a:p>
        </p:txBody>
      </p:sp>
      <p:sp>
        <p:nvSpPr>
          <p:cNvPr id="7" name="Core tier detail"/>
          <p:cNvSpPr txBox="1"/>
          <p:nvPr/>
        </p:nvSpPr>
        <p:spPr>
          <a:xfrm>
            <a:off x="1920240" y="1691640"/>
            <a:ext cx="3703320" cy="1097280"/>
          </a:xfrm>
          <a:prstGeom prst="rect">
            <a:avLst/>
          </a:prstGeom>
          <a:noFill/>
          <a:ln/>
        </p:spPr>
        <p:txBody>
          <a:bodyPr wrap="square" lIns="0" tIns="0" rIns="0" bIns="0" rtlCol="0" anchor="ctr"/>
          <a:lstStyle/>
          <a:p>
            <a:pPr marL="0" indent="0">
              <a:spcAft>
                <a:spcPts val="400"/>
              </a:spcAft>
              <a:buNone/>
            </a:pPr>
            <a:r>
              <a:rPr lang="en-US" sz="1400" b="1" dirty="0">
                <a:solidFill>
                  <a:schemeClr val="tx1"/>
                </a:solidFill>
              </a:rPr>
              <a:t>Patient &amp; Identity · Glucose Observation</a:t>
            </a:r>
            <a:endParaRPr lang="en-US" sz="1400" dirty="0"/>
          </a:p>
          <a:p>
            <a:pPr marL="0" indent="0">
              <a:spcAft>
                <a:spcPts val="400"/>
              </a:spcAft>
              <a:buNone/>
            </a:pPr>
            <a:r>
              <a:rPr lang="en-US" sz="1400" b="1" dirty="0">
                <a:solidFill>
                  <a:schemeClr val="tx1"/>
                </a:solidFill>
              </a:rPr>
              <a:t>Devices &amp; apps 360 · Clinical &amp; labs &amp; Payments</a:t>
            </a:r>
            <a:endParaRPr lang="en-US" sz="1400" dirty="0"/>
          </a:p>
          <a:p>
            <a:pPr marL="0" indent="0">
              <a:spcAft>
                <a:spcPts val="400"/>
              </a:spcAft>
              <a:buNone/>
            </a:pPr>
            <a:r>
              <a:rPr lang="en-US" sz="1200" dirty="0">
                <a:solidFill>
                  <a:schemeClr val="accent2"/>
                </a:solidFill>
              </a:rPr>
              <a:t>→ Trusted foundations for every downstream use</a:t>
            </a:r>
            <a:endParaRPr lang="en-US" sz="1400" dirty="0"/>
          </a:p>
        </p:txBody>
      </p:sp>
      <p:sp>
        <p:nvSpPr>
          <p:cNvPr id="8" name="Derived tier panel"/>
          <p:cNvSpPr/>
          <p:nvPr/>
        </p:nvSpPr>
        <p:spPr>
          <a:xfrm>
            <a:off x="1737360" y="2971800"/>
            <a:ext cx="4023360" cy="1097280"/>
          </a:xfrm>
          <a:prstGeom prst="rect">
            <a:avLst/>
          </a:prstGeom>
          <a:solidFill>
            <a:schemeClr val="bg2"/>
          </a:solidFill>
          <a:ln w="12700">
            <a:solidFill>
              <a:schemeClr val="bg2"/>
            </a:solidFill>
            <a:prstDash val="solid"/>
          </a:ln>
        </p:spPr>
        <p:txBody>
          <a:bodyPr/>
          <a:lstStyle/>
          <a:p>
            <a:endParaRPr lang="en-GB"/>
          </a:p>
        </p:txBody>
      </p:sp>
      <p:sp>
        <p:nvSpPr>
          <p:cNvPr id="9" name="Derived tier label"/>
          <p:cNvSpPr txBox="1"/>
          <p:nvPr/>
        </p:nvSpPr>
        <p:spPr>
          <a:xfrm>
            <a:off x="548640" y="2971800"/>
            <a:ext cx="1188720" cy="1097280"/>
          </a:xfrm>
          <a:prstGeom prst="rect">
            <a:avLst/>
          </a:prstGeom>
          <a:solidFill>
            <a:schemeClr val="accent2"/>
          </a:solidFill>
          <a:ln/>
        </p:spPr>
        <p:txBody>
          <a:bodyPr wrap="square" lIns="0" tIns="0" rIns="0" bIns="0" rtlCol="0" anchor="ctr"/>
          <a:lstStyle/>
          <a:p>
            <a:pPr marL="0" indent="0" algn="ctr">
              <a:buNone/>
            </a:pPr>
            <a:r>
              <a:rPr lang="en-US" sz="1600" b="1" dirty="0">
                <a:solidFill>
                  <a:schemeClr val="bg1"/>
                </a:solidFill>
              </a:rPr>
              <a:t>Derived</a:t>
            </a:r>
            <a:endParaRPr lang="en-US" sz="1600" dirty="0"/>
          </a:p>
        </p:txBody>
      </p:sp>
      <p:sp>
        <p:nvSpPr>
          <p:cNvPr id="10" name="Derived tier detail"/>
          <p:cNvSpPr txBox="1"/>
          <p:nvPr/>
        </p:nvSpPr>
        <p:spPr>
          <a:xfrm>
            <a:off x="1920240" y="2971800"/>
            <a:ext cx="3703320" cy="1097280"/>
          </a:xfrm>
          <a:prstGeom prst="rect">
            <a:avLst/>
          </a:prstGeom>
          <a:noFill/>
          <a:ln/>
        </p:spPr>
        <p:txBody>
          <a:bodyPr wrap="square" lIns="0" tIns="0" rIns="0" bIns="0" rtlCol="0" anchor="ctr"/>
          <a:lstStyle/>
          <a:p>
            <a:pPr marL="0" indent="0">
              <a:spcAft>
                <a:spcPts val="400"/>
              </a:spcAft>
              <a:buNone/>
            </a:pPr>
            <a:r>
              <a:rPr lang="en-US" sz="1400" b="1" dirty="0">
                <a:solidFill>
                  <a:schemeClr val="tx1"/>
                </a:solidFill>
              </a:rPr>
              <a:t>Devices &amp; apps Triage · Clinical &amp; labs Anomalies</a:t>
            </a:r>
            <a:endParaRPr lang="en-US" sz="1400" dirty="0"/>
          </a:p>
          <a:p>
            <a:pPr marL="0" indent="0">
              <a:spcAft>
                <a:spcPts val="400"/>
              </a:spcAft>
              <a:buNone/>
            </a:pPr>
            <a:r>
              <a:rPr lang="en-US" sz="1400" b="1" dirty="0">
                <a:solidFill>
                  <a:schemeClr val="tx1"/>
                </a:solidFill>
              </a:rPr>
              <a:t>Diabetes Summary · Device Reliability</a:t>
            </a:r>
            <a:endParaRPr lang="en-US" sz="1400" dirty="0"/>
          </a:p>
          <a:p>
            <a:pPr marL="0" indent="0">
              <a:spcAft>
                <a:spcPts val="400"/>
              </a:spcAft>
              <a:buNone/>
            </a:pPr>
            <a:r>
              <a:rPr lang="en-US" sz="1200" dirty="0">
                <a:solidFill>
                  <a:schemeClr val="accent2"/>
                </a:solidFill>
              </a:rPr>
              <a:t>→ Care summaries, authorized sharing and operations</a:t>
            </a:r>
            <a:endParaRPr lang="en-US" sz="1400" dirty="0"/>
          </a:p>
        </p:txBody>
      </p:sp>
      <p:sp>
        <p:nvSpPr>
          <p:cNvPr id="11" name="Analytical tier panel"/>
          <p:cNvSpPr/>
          <p:nvPr/>
        </p:nvSpPr>
        <p:spPr>
          <a:xfrm>
            <a:off x="1737360" y="4251960"/>
            <a:ext cx="4023360" cy="1097280"/>
          </a:xfrm>
          <a:prstGeom prst="rect">
            <a:avLst/>
          </a:prstGeom>
          <a:solidFill>
            <a:schemeClr val="bg2"/>
          </a:solidFill>
          <a:ln w="12700">
            <a:solidFill>
              <a:schemeClr val="bg2"/>
            </a:solidFill>
            <a:prstDash val="solid"/>
          </a:ln>
        </p:spPr>
        <p:txBody>
          <a:bodyPr/>
          <a:lstStyle/>
          <a:p>
            <a:endParaRPr lang="en-GB"/>
          </a:p>
        </p:txBody>
      </p:sp>
      <p:sp>
        <p:nvSpPr>
          <p:cNvPr id="12" name="Analytical tier label"/>
          <p:cNvSpPr txBox="1"/>
          <p:nvPr/>
        </p:nvSpPr>
        <p:spPr>
          <a:xfrm>
            <a:off x="548640" y="4251960"/>
            <a:ext cx="1188720" cy="1097280"/>
          </a:xfrm>
          <a:prstGeom prst="rect">
            <a:avLst/>
          </a:prstGeom>
          <a:solidFill>
            <a:schemeClr val="accent1"/>
          </a:solidFill>
          <a:ln/>
        </p:spPr>
        <p:txBody>
          <a:bodyPr wrap="square" lIns="0" tIns="0" rIns="0" bIns="0" rtlCol="0" anchor="ctr"/>
          <a:lstStyle/>
          <a:p>
            <a:pPr marL="0" indent="0" algn="ctr">
              <a:buNone/>
            </a:pPr>
            <a:r>
              <a:rPr lang="en-US" sz="1600" b="1" dirty="0">
                <a:solidFill>
                  <a:schemeClr val="bg1"/>
                </a:solidFill>
              </a:rPr>
              <a:t>Analytical</a:t>
            </a:r>
            <a:endParaRPr lang="en-US" sz="1600" dirty="0"/>
          </a:p>
        </p:txBody>
      </p:sp>
      <p:sp>
        <p:nvSpPr>
          <p:cNvPr id="13" name="Analytical tier detail"/>
          <p:cNvSpPr txBox="1"/>
          <p:nvPr/>
        </p:nvSpPr>
        <p:spPr>
          <a:xfrm>
            <a:off x="1920240" y="4221089"/>
            <a:ext cx="3703320" cy="1097280"/>
          </a:xfrm>
          <a:prstGeom prst="rect">
            <a:avLst/>
          </a:prstGeom>
          <a:noFill/>
          <a:ln/>
        </p:spPr>
        <p:txBody>
          <a:bodyPr wrap="square" lIns="0" tIns="0" rIns="0" bIns="0" rtlCol="0" anchor="ctr"/>
          <a:lstStyle/>
          <a:p>
            <a:pPr marL="0" indent="0">
              <a:spcAft>
                <a:spcPts val="400"/>
              </a:spcAft>
              <a:buNone/>
            </a:pPr>
            <a:r>
              <a:rPr lang="en-US" sz="1400" b="1" dirty="0">
                <a:solidFill>
                  <a:schemeClr val="tx1"/>
                </a:solidFill>
              </a:rPr>
              <a:t>Devices &amp; apps Cost &amp; Cycle Time</a:t>
            </a:r>
            <a:endParaRPr lang="en-US" sz="1400" dirty="0"/>
          </a:p>
          <a:p>
            <a:pPr marL="0" indent="0">
              <a:spcAft>
                <a:spcPts val="400"/>
              </a:spcAft>
              <a:buNone/>
            </a:pPr>
            <a:r>
              <a:rPr lang="en-US" sz="1400" b="1" dirty="0">
                <a:solidFill>
                  <a:schemeClr val="tx1"/>
                </a:solidFill>
              </a:rPr>
              <a:t>Engagement Insights · AI Evaluation Evidence</a:t>
            </a:r>
            <a:endParaRPr lang="en-US" sz="1400" dirty="0"/>
          </a:p>
          <a:p>
            <a:pPr marL="0" indent="0">
              <a:spcAft>
                <a:spcPts val="400"/>
              </a:spcAft>
              <a:buNone/>
            </a:pPr>
            <a:r>
              <a:rPr lang="en-US" sz="1200" dirty="0">
                <a:solidFill>
                  <a:schemeClr val="accent2"/>
                </a:solidFill>
              </a:rPr>
              <a:t>→ Research and natural-language analytics</a:t>
            </a:r>
            <a:endParaRPr lang="en-US" sz="1400" dirty="0"/>
          </a:p>
        </p:txBody>
      </p:sp>
      <p:sp>
        <p:nvSpPr>
          <p:cNvPr id="14" name="Trait Discoverable tile"/>
          <p:cNvSpPr/>
          <p:nvPr/>
        </p:nvSpPr>
        <p:spPr>
          <a:xfrm>
            <a:off x="6126480" y="1691640"/>
            <a:ext cx="1737360" cy="1097280"/>
          </a:xfrm>
          <a:prstGeom prst="rect">
            <a:avLst/>
          </a:prstGeom>
          <a:solidFill>
            <a:schemeClr val="bg2"/>
          </a:solidFill>
          <a:ln w="12700">
            <a:solidFill>
              <a:schemeClr val="bg2"/>
            </a:solidFill>
            <a:prstDash val="solid"/>
          </a:ln>
        </p:spPr>
        <p:txBody>
          <a:bodyPr/>
          <a:lstStyle/>
          <a:p>
            <a:endParaRPr lang="en-GB"/>
          </a:p>
        </p:txBody>
      </p:sp>
      <p:sp>
        <p:nvSpPr>
          <p:cNvPr id="15" name="Trait Discoverable"/>
          <p:cNvSpPr txBox="1"/>
          <p:nvPr/>
        </p:nvSpPr>
        <p:spPr>
          <a:xfrm>
            <a:off x="6263640" y="1691640"/>
            <a:ext cx="1508760" cy="1097280"/>
          </a:xfrm>
          <a:prstGeom prst="rect">
            <a:avLst/>
          </a:prstGeom>
          <a:noFill/>
          <a:ln/>
        </p:spPr>
        <p:txBody>
          <a:bodyPr wrap="square" lIns="0" tIns="0" rIns="0" bIns="0" rtlCol="0" anchor="ctr"/>
          <a:lstStyle/>
          <a:p>
            <a:pPr marL="0" indent="0">
              <a:buNone/>
            </a:pPr>
            <a:r>
              <a:rPr lang="en-US" sz="1400" b="1" dirty="0">
                <a:solidFill>
                  <a:schemeClr val="tx1"/>
                </a:solidFill>
              </a:rPr>
              <a:t>Discoverable</a:t>
            </a:r>
            <a:endParaRPr lang="en-US" sz="1400" dirty="0"/>
          </a:p>
          <a:p>
            <a:pPr marL="0" indent="0">
              <a:buNone/>
            </a:pPr>
            <a:r>
              <a:rPr lang="en-US" sz="1100" dirty="0">
                <a:solidFill>
                  <a:srgbClr val="595959"/>
                </a:solidFill>
              </a:rPr>
              <a:t>Listed in the catalog</a:t>
            </a:r>
            <a:endParaRPr lang="en-US" sz="1400" dirty="0"/>
          </a:p>
        </p:txBody>
      </p:sp>
      <p:sp>
        <p:nvSpPr>
          <p:cNvPr id="16" name="Trait Addressable tile"/>
          <p:cNvSpPr/>
          <p:nvPr/>
        </p:nvSpPr>
        <p:spPr>
          <a:xfrm>
            <a:off x="8001000" y="1691640"/>
            <a:ext cx="1737360" cy="1097280"/>
          </a:xfrm>
          <a:prstGeom prst="rect">
            <a:avLst/>
          </a:prstGeom>
          <a:solidFill>
            <a:schemeClr val="bg2"/>
          </a:solidFill>
          <a:ln w="12700">
            <a:solidFill>
              <a:schemeClr val="bg2"/>
            </a:solidFill>
            <a:prstDash val="solid"/>
          </a:ln>
        </p:spPr>
        <p:txBody>
          <a:bodyPr/>
          <a:lstStyle/>
          <a:p>
            <a:endParaRPr lang="en-GB"/>
          </a:p>
        </p:txBody>
      </p:sp>
      <p:sp>
        <p:nvSpPr>
          <p:cNvPr id="17" name="Trait Addressable"/>
          <p:cNvSpPr txBox="1"/>
          <p:nvPr/>
        </p:nvSpPr>
        <p:spPr>
          <a:xfrm>
            <a:off x="8138160" y="1691640"/>
            <a:ext cx="1508760" cy="1097280"/>
          </a:xfrm>
          <a:prstGeom prst="rect">
            <a:avLst/>
          </a:prstGeom>
          <a:noFill/>
          <a:ln/>
        </p:spPr>
        <p:txBody>
          <a:bodyPr wrap="square" lIns="0" tIns="0" rIns="0" bIns="0" rtlCol="0" anchor="ctr"/>
          <a:lstStyle/>
          <a:p>
            <a:pPr marL="0" indent="0">
              <a:buNone/>
            </a:pPr>
            <a:r>
              <a:rPr lang="en-US" sz="1400" b="1" dirty="0">
                <a:solidFill>
                  <a:schemeClr val="tx1"/>
                </a:solidFill>
              </a:rPr>
              <a:t>Addressable</a:t>
            </a:r>
            <a:endParaRPr lang="en-US" sz="1400" dirty="0"/>
          </a:p>
          <a:p>
            <a:pPr marL="0" indent="0">
              <a:buNone/>
            </a:pPr>
            <a:r>
              <a:rPr lang="en-US" sz="1100" dirty="0">
                <a:solidFill>
                  <a:srgbClr val="595959"/>
                </a:solidFill>
              </a:rPr>
              <a:t>Stable, versioned access</a:t>
            </a:r>
            <a:endParaRPr lang="en-US" sz="1400" dirty="0"/>
          </a:p>
        </p:txBody>
      </p:sp>
      <p:sp>
        <p:nvSpPr>
          <p:cNvPr id="18" name="Trait Trustworthy tile"/>
          <p:cNvSpPr/>
          <p:nvPr/>
        </p:nvSpPr>
        <p:spPr>
          <a:xfrm>
            <a:off x="9875520" y="1691640"/>
            <a:ext cx="1737360" cy="1097280"/>
          </a:xfrm>
          <a:prstGeom prst="rect">
            <a:avLst/>
          </a:prstGeom>
          <a:solidFill>
            <a:schemeClr val="bg2"/>
          </a:solidFill>
          <a:ln w="12700">
            <a:solidFill>
              <a:schemeClr val="bg2"/>
            </a:solidFill>
            <a:prstDash val="solid"/>
          </a:ln>
        </p:spPr>
        <p:txBody>
          <a:bodyPr/>
          <a:lstStyle/>
          <a:p>
            <a:endParaRPr lang="en-GB"/>
          </a:p>
        </p:txBody>
      </p:sp>
      <p:sp>
        <p:nvSpPr>
          <p:cNvPr id="19" name="Trait Trustworthy"/>
          <p:cNvSpPr txBox="1"/>
          <p:nvPr/>
        </p:nvSpPr>
        <p:spPr>
          <a:xfrm>
            <a:off x="10012680" y="1691640"/>
            <a:ext cx="1508760" cy="1097280"/>
          </a:xfrm>
          <a:prstGeom prst="rect">
            <a:avLst/>
          </a:prstGeom>
          <a:noFill/>
          <a:ln/>
        </p:spPr>
        <p:txBody>
          <a:bodyPr wrap="square" lIns="0" tIns="0" rIns="0" bIns="0" rtlCol="0" anchor="ctr"/>
          <a:lstStyle/>
          <a:p>
            <a:pPr marL="0" indent="0">
              <a:buNone/>
            </a:pPr>
            <a:r>
              <a:rPr lang="en-US" sz="1400" b="1" dirty="0">
                <a:solidFill>
                  <a:schemeClr val="tx1"/>
                </a:solidFill>
              </a:rPr>
              <a:t>Trustworthy</a:t>
            </a:r>
            <a:endParaRPr lang="en-US" sz="1400" dirty="0"/>
          </a:p>
          <a:p>
            <a:pPr marL="0" indent="0">
              <a:buNone/>
            </a:pPr>
            <a:r>
              <a:rPr lang="en-US" sz="1100" dirty="0">
                <a:solidFill>
                  <a:srgbClr val="595959"/>
                </a:solidFill>
              </a:rPr>
              <a:t>Published quality SLOs</a:t>
            </a:r>
            <a:endParaRPr lang="en-US" sz="1400" dirty="0"/>
          </a:p>
        </p:txBody>
      </p:sp>
      <p:sp>
        <p:nvSpPr>
          <p:cNvPr id="20" name="Trait Self-describing tile"/>
          <p:cNvSpPr/>
          <p:nvPr/>
        </p:nvSpPr>
        <p:spPr>
          <a:xfrm>
            <a:off x="6126480" y="2971800"/>
            <a:ext cx="1737360" cy="1097280"/>
          </a:xfrm>
          <a:prstGeom prst="rect">
            <a:avLst/>
          </a:prstGeom>
          <a:solidFill>
            <a:schemeClr val="bg2"/>
          </a:solidFill>
          <a:ln w="12700">
            <a:solidFill>
              <a:schemeClr val="bg2"/>
            </a:solidFill>
            <a:prstDash val="solid"/>
          </a:ln>
        </p:spPr>
        <p:txBody>
          <a:bodyPr/>
          <a:lstStyle/>
          <a:p>
            <a:endParaRPr lang="en-GB"/>
          </a:p>
        </p:txBody>
      </p:sp>
      <p:sp>
        <p:nvSpPr>
          <p:cNvPr id="21" name="Trait Self-describing"/>
          <p:cNvSpPr txBox="1"/>
          <p:nvPr/>
        </p:nvSpPr>
        <p:spPr>
          <a:xfrm>
            <a:off x="6263640" y="2971800"/>
            <a:ext cx="1508760" cy="1097280"/>
          </a:xfrm>
          <a:prstGeom prst="rect">
            <a:avLst/>
          </a:prstGeom>
          <a:noFill/>
          <a:ln/>
        </p:spPr>
        <p:txBody>
          <a:bodyPr wrap="square" lIns="0" tIns="0" rIns="0" bIns="0" rtlCol="0" anchor="ctr"/>
          <a:lstStyle/>
          <a:p>
            <a:pPr marL="0" indent="0">
              <a:buNone/>
            </a:pPr>
            <a:r>
              <a:rPr lang="en-US" sz="1400" b="1" dirty="0">
                <a:solidFill>
                  <a:schemeClr val="tx1"/>
                </a:solidFill>
              </a:rPr>
              <a:t>Self-describing</a:t>
            </a:r>
            <a:endParaRPr lang="en-US" sz="1400" dirty="0"/>
          </a:p>
          <a:p>
            <a:pPr marL="0" indent="0">
              <a:buNone/>
            </a:pPr>
            <a:r>
              <a:rPr lang="en-US" sz="1100" dirty="0">
                <a:solidFill>
                  <a:srgbClr val="595959"/>
                </a:solidFill>
              </a:rPr>
              <a:t>Schema, lineage, semantics</a:t>
            </a:r>
            <a:endParaRPr lang="en-US" sz="1400" dirty="0"/>
          </a:p>
        </p:txBody>
      </p:sp>
      <p:sp>
        <p:nvSpPr>
          <p:cNvPr id="22" name="Trait Interoperable tile"/>
          <p:cNvSpPr/>
          <p:nvPr/>
        </p:nvSpPr>
        <p:spPr>
          <a:xfrm>
            <a:off x="8001000" y="2971800"/>
            <a:ext cx="1737360" cy="1097280"/>
          </a:xfrm>
          <a:prstGeom prst="rect">
            <a:avLst/>
          </a:prstGeom>
          <a:solidFill>
            <a:schemeClr val="bg2"/>
          </a:solidFill>
          <a:ln w="12700">
            <a:solidFill>
              <a:schemeClr val="bg2"/>
            </a:solidFill>
            <a:prstDash val="solid"/>
          </a:ln>
        </p:spPr>
        <p:txBody>
          <a:bodyPr/>
          <a:lstStyle/>
          <a:p>
            <a:endParaRPr lang="en-GB"/>
          </a:p>
        </p:txBody>
      </p:sp>
      <p:sp>
        <p:nvSpPr>
          <p:cNvPr id="23" name="Trait Interoperable"/>
          <p:cNvSpPr txBox="1"/>
          <p:nvPr/>
        </p:nvSpPr>
        <p:spPr>
          <a:xfrm>
            <a:off x="8138160" y="2971800"/>
            <a:ext cx="1508760" cy="1097280"/>
          </a:xfrm>
          <a:prstGeom prst="rect">
            <a:avLst/>
          </a:prstGeom>
          <a:noFill/>
          <a:ln/>
        </p:spPr>
        <p:txBody>
          <a:bodyPr wrap="square" lIns="0" tIns="0" rIns="0" bIns="0" rtlCol="0" anchor="ctr"/>
          <a:lstStyle/>
          <a:p>
            <a:pPr marL="0" indent="0">
              <a:buNone/>
            </a:pPr>
            <a:r>
              <a:rPr lang="en-US" sz="1400" b="1" dirty="0">
                <a:solidFill>
                  <a:schemeClr val="tx1"/>
                </a:solidFill>
              </a:rPr>
              <a:t>Interoperable</a:t>
            </a:r>
            <a:endParaRPr lang="en-US" sz="1400" dirty="0"/>
          </a:p>
          <a:p>
            <a:pPr marL="0" indent="0">
              <a:buNone/>
            </a:pPr>
            <a:r>
              <a:rPr lang="en-US" sz="1100" dirty="0">
                <a:solidFill>
                  <a:srgbClr val="595959"/>
                </a:solidFill>
              </a:rPr>
              <a:t>Shared clinical vocabulary</a:t>
            </a:r>
            <a:endParaRPr lang="en-US" sz="1400" dirty="0"/>
          </a:p>
        </p:txBody>
      </p:sp>
      <p:sp>
        <p:nvSpPr>
          <p:cNvPr id="24" name="Trait Secure tile"/>
          <p:cNvSpPr/>
          <p:nvPr/>
        </p:nvSpPr>
        <p:spPr>
          <a:xfrm>
            <a:off x="9875520" y="2971800"/>
            <a:ext cx="1737360" cy="1097280"/>
          </a:xfrm>
          <a:prstGeom prst="rect">
            <a:avLst/>
          </a:prstGeom>
          <a:solidFill>
            <a:schemeClr val="bg2"/>
          </a:solidFill>
          <a:ln w="12700">
            <a:solidFill>
              <a:schemeClr val="bg2"/>
            </a:solidFill>
            <a:prstDash val="solid"/>
          </a:ln>
        </p:spPr>
        <p:txBody>
          <a:bodyPr/>
          <a:lstStyle/>
          <a:p>
            <a:endParaRPr lang="en-GB"/>
          </a:p>
        </p:txBody>
      </p:sp>
      <p:sp>
        <p:nvSpPr>
          <p:cNvPr id="25" name="Trait Secure"/>
          <p:cNvSpPr txBox="1"/>
          <p:nvPr/>
        </p:nvSpPr>
        <p:spPr>
          <a:xfrm>
            <a:off x="10012680" y="2971800"/>
            <a:ext cx="1508760" cy="1097280"/>
          </a:xfrm>
          <a:prstGeom prst="rect">
            <a:avLst/>
          </a:prstGeom>
          <a:noFill/>
          <a:ln/>
        </p:spPr>
        <p:txBody>
          <a:bodyPr wrap="square" lIns="0" tIns="0" rIns="0" bIns="0" rtlCol="0" anchor="ctr"/>
          <a:lstStyle/>
          <a:p>
            <a:pPr marL="0" indent="0">
              <a:buNone/>
            </a:pPr>
            <a:r>
              <a:rPr lang="en-US" sz="1400" b="1" dirty="0">
                <a:solidFill>
                  <a:schemeClr val="tx1"/>
                </a:solidFill>
              </a:rPr>
              <a:t>Secure</a:t>
            </a:r>
            <a:endParaRPr lang="en-US" sz="1400" dirty="0"/>
          </a:p>
          <a:p>
            <a:pPr marL="0" indent="0">
              <a:buNone/>
            </a:pPr>
            <a:r>
              <a:rPr lang="en-US" sz="1100" dirty="0">
                <a:solidFill>
                  <a:srgbClr val="595959"/>
                </a:solidFill>
              </a:rPr>
              <a:t>PHI, privacy and consent controls</a:t>
            </a:r>
            <a:endParaRPr lang="en-US" sz="1400" dirty="0"/>
          </a:p>
        </p:txBody>
      </p:sp>
      <p:sp>
        <p:nvSpPr>
          <p:cNvPr id="26" name="Trait Owned tile"/>
          <p:cNvSpPr/>
          <p:nvPr/>
        </p:nvSpPr>
        <p:spPr>
          <a:xfrm>
            <a:off x="6126480" y="4251960"/>
            <a:ext cx="1737360" cy="1097280"/>
          </a:xfrm>
          <a:prstGeom prst="rect">
            <a:avLst/>
          </a:prstGeom>
          <a:solidFill>
            <a:schemeClr val="bg2"/>
          </a:solidFill>
          <a:ln w="12700">
            <a:solidFill>
              <a:schemeClr val="bg2"/>
            </a:solidFill>
            <a:prstDash val="solid"/>
          </a:ln>
        </p:spPr>
        <p:txBody>
          <a:bodyPr/>
          <a:lstStyle/>
          <a:p>
            <a:endParaRPr lang="en-GB"/>
          </a:p>
        </p:txBody>
      </p:sp>
      <p:sp>
        <p:nvSpPr>
          <p:cNvPr id="27" name="Trait Owned"/>
          <p:cNvSpPr txBox="1"/>
          <p:nvPr/>
        </p:nvSpPr>
        <p:spPr>
          <a:xfrm>
            <a:off x="6263640" y="4251960"/>
            <a:ext cx="1508760" cy="1097280"/>
          </a:xfrm>
          <a:prstGeom prst="rect">
            <a:avLst/>
          </a:prstGeom>
          <a:noFill/>
          <a:ln/>
        </p:spPr>
        <p:txBody>
          <a:bodyPr wrap="square" lIns="0" tIns="0" rIns="0" bIns="0" rtlCol="0" anchor="ctr"/>
          <a:lstStyle/>
          <a:p>
            <a:pPr marL="0" indent="0">
              <a:buNone/>
            </a:pPr>
            <a:r>
              <a:rPr lang="en-US" sz="1400" b="1" dirty="0">
                <a:solidFill>
                  <a:schemeClr val="tx1"/>
                </a:solidFill>
              </a:rPr>
              <a:t>Owned</a:t>
            </a:r>
            <a:endParaRPr lang="en-US" sz="1400" dirty="0"/>
          </a:p>
          <a:p>
            <a:pPr marL="0" indent="0">
              <a:buNone/>
            </a:pPr>
            <a:r>
              <a:rPr lang="en-US" sz="1100" dirty="0">
                <a:solidFill>
                  <a:srgbClr val="595959"/>
                </a:solidFill>
              </a:rPr>
              <a:t>Named product owner</a:t>
            </a:r>
            <a:endParaRPr lang="en-US" sz="1400" dirty="0"/>
          </a:p>
        </p:txBody>
      </p:sp>
      <p:sp>
        <p:nvSpPr>
          <p:cNvPr id="28" name="Trait Valuable tile"/>
          <p:cNvSpPr/>
          <p:nvPr/>
        </p:nvSpPr>
        <p:spPr>
          <a:xfrm>
            <a:off x="8001000" y="4251960"/>
            <a:ext cx="1737360" cy="1097280"/>
          </a:xfrm>
          <a:prstGeom prst="rect">
            <a:avLst/>
          </a:prstGeom>
          <a:solidFill>
            <a:schemeClr val="bg2"/>
          </a:solidFill>
          <a:ln w="12700">
            <a:solidFill>
              <a:schemeClr val="bg2"/>
            </a:solidFill>
            <a:prstDash val="solid"/>
          </a:ln>
        </p:spPr>
        <p:txBody>
          <a:bodyPr/>
          <a:lstStyle/>
          <a:p>
            <a:endParaRPr lang="en-GB"/>
          </a:p>
        </p:txBody>
      </p:sp>
      <p:sp>
        <p:nvSpPr>
          <p:cNvPr id="29" name="Trait Valuable"/>
          <p:cNvSpPr txBox="1"/>
          <p:nvPr/>
        </p:nvSpPr>
        <p:spPr>
          <a:xfrm>
            <a:off x="8138160" y="4251960"/>
            <a:ext cx="1508760" cy="1097280"/>
          </a:xfrm>
          <a:prstGeom prst="rect">
            <a:avLst/>
          </a:prstGeom>
          <a:noFill/>
          <a:ln/>
        </p:spPr>
        <p:txBody>
          <a:bodyPr wrap="square" lIns="0" tIns="0" rIns="0" bIns="0" rtlCol="0" anchor="ctr"/>
          <a:lstStyle/>
          <a:p>
            <a:pPr marL="0" indent="0">
              <a:buNone/>
            </a:pPr>
            <a:r>
              <a:rPr lang="en-US" sz="1400" b="1" dirty="0">
                <a:solidFill>
                  <a:schemeClr val="tx1"/>
                </a:solidFill>
              </a:rPr>
              <a:t>Valuable</a:t>
            </a:r>
            <a:endParaRPr lang="en-US" sz="1400" dirty="0"/>
          </a:p>
          <a:p>
            <a:pPr marL="0" indent="0">
              <a:buNone/>
            </a:pPr>
            <a:r>
              <a:rPr lang="en-US" sz="1100" dirty="0">
                <a:solidFill>
                  <a:srgbClr val="595959"/>
                </a:solidFill>
              </a:rPr>
              <a:t>Tied to business outcomes</a:t>
            </a:r>
            <a:endParaRPr lang="en-US" sz="1400" dirty="0"/>
          </a:p>
        </p:txBody>
      </p:sp>
      <p:sp>
        <p:nvSpPr>
          <p:cNvPr id="30" name="Trait AI-ready tile"/>
          <p:cNvSpPr/>
          <p:nvPr/>
        </p:nvSpPr>
        <p:spPr>
          <a:xfrm>
            <a:off x="9875520" y="4251960"/>
            <a:ext cx="1737360" cy="1097280"/>
          </a:xfrm>
          <a:prstGeom prst="rect">
            <a:avLst/>
          </a:prstGeom>
          <a:solidFill>
            <a:schemeClr val="accent1"/>
          </a:solidFill>
          <a:ln w="12700">
            <a:solidFill>
              <a:schemeClr val="accent1"/>
            </a:solidFill>
            <a:prstDash val="solid"/>
          </a:ln>
        </p:spPr>
        <p:txBody>
          <a:bodyPr/>
          <a:lstStyle/>
          <a:p>
            <a:endParaRPr lang="en-GB"/>
          </a:p>
        </p:txBody>
      </p:sp>
      <p:sp>
        <p:nvSpPr>
          <p:cNvPr id="31" name="Trait AI-ready"/>
          <p:cNvSpPr txBox="1"/>
          <p:nvPr/>
        </p:nvSpPr>
        <p:spPr>
          <a:xfrm>
            <a:off x="10012680" y="4251960"/>
            <a:ext cx="1508760" cy="1097280"/>
          </a:xfrm>
          <a:prstGeom prst="rect">
            <a:avLst/>
          </a:prstGeom>
          <a:noFill/>
          <a:ln/>
        </p:spPr>
        <p:txBody>
          <a:bodyPr wrap="square" lIns="0" tIns="0" rIns="0" bIns="0" rtlCol="0" anchor="ctr"/>
          <a:lstStyle/>
          <a:p>
            <a:pPr marL="0" indent="0">
              <a:buNone/>
            </a:pPr>
            <a:r>
              <a:rPr lang="en-US" sz="1400" b="1" dirty="0">
                <a:solidFill>
                  <a:schemeClr val="bg1"/>
                </a:solidFill>
              </a:rPr>
              <a:t>AI-ready</a:t>
            </a:r>
            <a:endParaRPr lang="en-US" sz="1400" dirty="0"/>
          </a:p>
          <a:p>
            <a:pPr marL="0" indent="0">
              <a:buNone/>
            </a:pPr>
            <a:r>
              <a:rPr lang="en-US" sz="1100" dirty="0">
                <a:solidFill>
                  <a:schemeClr val="bg1"/>
                </a:solidFill>
              </a:rPr>
              <a:t>Machine-usable metadata</a:t>
            </a:r>
            <a:endParaRPr lang="en-US" sz="1400" dirty="0"/>
          </a:p>
        </p:txBody>
      </p:sp>
      <p:sp>
        <p:nvSpPr>
          <p:cNvPr id="32" name="Traits takeaway"/>
          <p:cNvSpPr txBox="1"/>
          <p:nvPr/>
        </p:nvSpPr>
        <p:spPr>
          <a:xfrm>
            <a:off x="548640" y="5623560"/>
            <a:ext cx="11064240" cy="411480"/>
          </a:xfrm>
          <a:prstGeom prst="rect">
            <a:avLst/>
          </a:prstGeom>
          <a:noFill/>
          <a:ln/>
        </p:spPr>
        <p:txBody>
          <a:bodyPr wrap="square" lIns="0" tIns="0" rIns="0" bIns="0" rtlCol="0" anchor="ctr"/>
          <a:lstStyle/>
          <a:p>
            <a:pPr marL="0" indent="0">
              <a:buNone/>
            </a:pPr>
            <a:r>
              <a:rPr lang="en-US" sz="1500" b="1" i="1" dirty="0">
                <a:solidFill>
                  <a:schemeClr val="accent2"/>
                </a:solidFill>
              </a:rPr>
              <a:t>Core first: every later product reuses identity, glucose, device and consent foundations.</a:t>
            </a:r>
            <a:endParaRPr lang="en-US" sz="15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a:spLocks noGrp="1"/>
          </p:cNvSpPr>
          <p:nvPr>
            <p:ph type="title" idx="100" hasCustomPrompt="1"/>
          </p:nvPr>
        </p:nvSpPr>
        <p:spPr>
          <a:xfrm>
            <a:off x="457200" y="274320"/>
            <a:ext cx="11247120" cy="868680"/>
          </a:xfrm>
          <a:prstGeom prst="rect">
            <a:avLst/>
          </a:prstGeom>
          <a:noFill/>
          <a:ln/>
        </p:spPr>
        <p:txBody>
          <a:bodyPr wrap="square" lIns="0" tIns="0" rIns="0" bIns="0" rtlCol="0" anchor="ctr"/>
          <a:lstStyle/>
          <a:p>
            <a:pPr marL="0" indent="0" algn="l">
              <a:buNone/>
            </a:pPr>
            <a:r>
              <a:rPr lang="en-US" sz="2800" b="1" dirty="0">
                <a:solidFill>
                  <a:schemeClr val="tx1"/>
                </a:solidFill>
              </a:rPr>
              <a:t>A phased path from workshop decisions to AI at scale</a:t>
            </a:r>
            <a:endParaRPr lang="en-US" sz="2800" dirty="0"/>
          </a:p>
        </p:txBody>
      </p:sp>
      <p:sp>
        <p:nvSpPr>
          <p:cNvPr id="3" name="Phase 1 arrow"/>
          <p:cNvSpPr/>
          <p:nvPr/>
        </p:nvSpPr>
        <p:spPr>
          <a:xfrm>
            <a:off x="548640" y="1463040"/>
            <a:ext cx="3611880" cy="822960"/>
          </a:xfrm>
          <a:prstGeom prst="homePlate">
            <a:avLst/>
          </a:prstGeom>
          <a:solidFill>
            <a:schemeClr val="accent3"/>
          </a:solidFill>
          <a:ln w="12700">
            <a:solidFill>
              <a:schemeClr val="accent3"/>
            </a:solidFill>
            <a:prstDash val="solid"/>
          </a:ln>
        </p:spPr>
        <p:txBody>
          <a:bodyPr/>
          <a:lstStyle/>
          <a:p>
            <a:endParaRPr lang="en-GB"/>
          </a:p>
        </p:txBody>
      </p:sp>
      <p:sp>
        <p:nvSpPr>
          <p:cNvPr id="4" name="Phase 1 label"/>
          <p:cNvSpPr txBox="1"/>
          <p:nvPr/>
        </p:nvSpPr>
        <p:spPr>
          <a:xfrm>
            <a:off x="822960" y="1463040"/>
            <a:ext cx="2697480" cy="822960"/>
          </a:xfrm>
          <a:prstGeom prst="rect">
            <a:avLst/>
          </a:prstGeom>
          <a:noFill/>
          <a:ln/>
        </p:spPr>
        <p:txBody>
          <a:bodyPr wrap="square" lIns="0" tIns="0" rIns="0" bIns="0" rtlCol="0" anchor="ctr"/>
          <a:lstStyle/>
          <a:p>
            <a:pPr marL="0" indent="0">
              <a:buNone/>
            </a:pPr>
            <a:r>
              <a:rPr lang="en-US" sz="1700" b="1" dirty="0">
                <a:solidFill>
                  <a:schemeClr val="bg1"/>
                </a:solidFill>
              </a:rPr>
              <a:t>Assess and design</a:t>
            </a:r>
            <a:endParaRPr lang="en-US" sz="1700" dirty="0"/>
          </a:p>
          <a:p>
            <a:pPr marL="0" indent="0">
              <a:buNone/>
            </a:pPr>
            <a:r>
              <a:rPr lang="en-US" sz="1300" dirty="0">
                <a:solidFill>
                  <a:schemeClr val="bg1"/>
                </a:solidFill>
              </a:rPr>
              <a:t>Target state</a:t>
            </a:r>
            <a:endParaRPr lang="en-US" sz="1700" dirty="0"/>
          </a:p>
        </p:txBody>
      </p:sp>
      <p:sp>
        <p:nvSpPr>
          <p:cNvPr id="5" name="Phase 1 activities"/>
          <p:cNvSpPr txBox="1"/>
          <p:nvPr/>
        </p:nvSpPr>
        <p:spPr>
          <a:xfrm>
            <a:off x="640080" y="2468880"/>
            <a:ext cx="3291840" cy="1828800"/>
          </a:xfrm>
          <a:prstGeom prst="rect">
            <a:avLst/>
          </a:prstGeom>
          <a:solidFill>
            <a:schemeClr val="bg2"/>
          </a:solidFill>
          <a:ln/>
        </p:spPr>
        <p:txBody>
          <a:bodyPr wrap="square" lIns="177800" tIns="152400" rIns="152400" bIns="127000" rtlCol="0" anchor="t"/>
          <a:lstStyle/>
          <a:p>
            <a:pPr marL="342900" indent="-342900">
              <a:spcAft>
                <a:spcPts val="1000"/>
              </a:spcAft>
              <a:buSzPct val="100000"/>
              <a:buChar char="•"/>
            </a:pPr>
            <a:r>
              <a:rPr lang="en-US" sz="1400" dirty="0">
                <a:solidFill>
                  <a:schemeClr val="tx1"/>
                </a:solidFill>
              </a:rPr>
              <a:t>Current-state capability and maturity</a:t>
            </a:r>
            <a:endParaRPr lang="en-US" sz="1400" dirty="0"/>
          </a:p>
          <a:p>
            <a:pPr marL="342900" indent="-342900">
              <a:spcAft>
                <a:spcPts val="1000"/>
              </a:spcAft>
              <a:buSzPct val="100000"/>
              <a:buChar char="•"/>
            </a:pPr>
            <a:r>
              <a:rPr lang="en-US" sz="1400" dirty="0">
                <a:solidFill>
                  <a:schemeClr val="tx1"/>
                </a:solidFill>
              </a:rPr>
              <a:t>Target architecture and product blueprint</a:t>
            </a:r>
            <a:endParaRPr lang="en-US" sz="1400" dirty="0"/>
          </a:p>
          <a:p>
            <a:pPr marL="342900" indent="-342900">
              <a:spcAft>
                <a:spcPts val="1000"/>
              </a:spcAft>
              <a:buSzPct val="100000"/>
              <a:buChar char="•"/>
            </a:pPr>
            <a:r>
              <a:rPr lang="en-US" sz="1400" dirty="0">
                <a:solidFill>
                  <a:schemeClr val="tx1"/>
                </a:solidFill>
              </a:rPr>
              <a:t>Prioritized Devices &amp; apps and Clinical &amp; labs use cases</a:t>
            </a:r>
            <a:endParaRPr lang="en-US" sz="1400" dirty="0"/>
          </a:p>
        </p:txBody>
      </p:sp>
      <p:sp>
        <p:nvSpPr>
          <p:cNvPr id="6" name="Phase 2 arrow"/>
          <p:cNvSpPr/>
          <p:nvPr/>
        </p:nvSpPr>
        <p:spPr>
          <a:xfrm>
            <a:off x="4297680" y="1463040"/>
            <a:ext cx="3611880" cy="822960"/>
          </a:xfrm>
          <a:prstGeom prst="chevron">
            <a:avLst/>
          </a:prstGeom>
          <a:solidFill>
            <a:schemeClr val="accent2"/>
          </a:solidFill>
          <a:ln w="12700">
            <a:solidFill>
              <a:schemeClr val="accent2"/>
            </a:solidFill>
            <a:prstDash val="solid"/>
          </a:ln>
        </p:spPr>
        <p:txBody>
          <a:bodyPr/>
          <a:lstStyle/>
          <a:p>
            <a:endParaRPr lang="en-GB"/>
          </a:p>
        </p:txBody>
      </p:sp>
      <p:sp>
        <p:nvSpPr>
          <p:cNvPr id="7" name="Phase 2 label"/>
          <p:cNvSpPr txBox="1"/>
          <p:nvPr/>
        </p:nvSpPr>
        <p:spPr>
          <a:xfrm>
            <a:off x="4800600" y="1463040"/>
            <a:ext cx="2697480" cy="822960"/>
          </a:xfrm>
          <a:prstGeom prst="rect">
            <a:avLst/>
          </a:prstGeom>
          <a:noFill/>
          <a:ln/>
        </p:spPr>
        <p:txBody>
          <a:bodyPr wrap="square" lIns="0" tIns="0" rIns="0" bIns="0" rtlCol="0" anchor="ctr"/>
          <a:lstStyle/>
          <a:p>
            <a:pPr marL="0" indent="0">
              <a:buNone/>
            </a:pPr>
            <a:r>
              <a:rPr lang="en-US" sz="1700" b="1" dirty="0">
                <a:solidFill>
                  <a:schemeClr val="bg1"/>
                </a:solidFill>
              </a:rPr>
              <a:t>Mobilize and prove</a:t>
            </a:r>
            <a:endParaRPr lang="en-US" sz="1700" dirty="0"/>
          </a:p>
          <a:p>
            <a:pPr marL="0" indent="0">
              <a:buNone/>
            </a:pPr>
            <a:r>
              <a:rPr lang="en-US" sz="1300" dirty="0">
                <a:solidFill>
                  <a:schemeClr val="bg1"/>
                </a:solidFill>
              </a:rPr>
              <a:t>Vertical MVP</a:t>
            </a:r>
            <a:endParaRPr lang="en-US" sz="1700" dirty="0"/>
          </a:p>
        </p:txBody>
      </p:sp>
      <p:sp>
        <p:nvSpPr>
          <p:cNvPr id="8" name="Phase 2 activities"/>
          <p:cNvSpPr txBox="1"/>
          <p:nvPr/>
        </p:nvSpPr>
        <p:spPr>
          <a:xfrm>
            <a:off x="4389120" y="2468880"/>
            <a:ext cx="3291840" cy="1828800"/>
          </a:xfrm>
          <a:prstGeom prst="rect">
            <a:avLst/>
          </a:prstGeom>
          <a:solidFill>
            <a:schemeClr val="bg2"/>
          </a:solidFill>
          <a:ln/>
        </p:spPr>
        <p:txBody>
          <a:bodyPr wrap="square" lIns="177800" tIns="152400" rIns="152400" bIns="127000" rtlCol="0" anchor="t"/>
          <a:lstStyle/>
          <a:p>
            <a:pPr marL="342900" indent="-342900">
              <a:spcAft>
                <a:spcPts val="1000"/>
              </a:spcAft>
              <a:buSzPct val="100000"/>
              <a:buChar char="•"/>
            </a:pPr>
            <a:r>
              <a:rPr lang="en-US" sz="1400" dirty="0">
                <a:solidFill>
                  <a:schemeClr val="tx1"/>
                </a:solidFill>
              </a:rPr>
              <a:t>Core 360 products, Devices &amp; apps 360 first</a:t>
            </a:r>
            <a:endParaRPr lang="en-US" sz="1400" dirty="0"/>
          </a:p>
          <a:p>
            <a:pPr marL="342900" indent="-342900">
              <a:spcAft>
                <a:spcPts val="1000"/>
              </a:spcAft>
              <a:buSzPct val="100000"/>
              <a:buChar char="•"/>
            </a:pPr>
            <a:r>
              <a:rPr lang="en-US" sz="1400" dirty="0">
                <a:solidFill>
                  <a:schemeClr val="tx1"/>
                </a:solidFill>
              </a:rPr>
              <a:t>Glucose Timeline and Patient Diabetes 360</a:t>
            </a:r>
            <a:endParaRPr lang="en-US" sz="1400" dirty="0"/>
          </a:p>
          <a:p>
            <a:pPr marL="342900" indent="-342900">
              <a:spcAft>
                <a:spcPts val="1000"/>
              </a:spcAft>
              <a:buSzPct val="100000"/>
              <a:buChar char="•"/>
            </a:pPr>
            <a:r>
              <a:rPr lang="en-US" sz="1400" dirty="0">
                <a:solidFill>
                  <a:schemeClr val="tx1"/>
                </a:solidFill>
              </a:rPr>
              <a:t>Shared AI and evaluation services</a:t>
            </a:r>
            <a:endParaRPr lang="en-US" sz="1400" dirty="0"/>
          </a:p>
        </p:txBody>
      </p:sp>
      <p:sp>
        <p:nvSpPr>
          <p:cNvPr id="9" name="Phase 3 arrow"/>
          <p:cNvSpPr/>
          <p:nvPr/>
        </p:nvSpPr>
        <p:spPr>
          <a:xfrm>
            <a:off x="8046720" y="1463040"/>
            <a:ext cx="3611880" cy="822960"/>
          </a:xfrm>
          <a:prstGeom prst="chevron">
            <a:avLst/>
          </a:prstGeom>
          <a:solidFill>
            <a:schemeClr val="accent1"/>
          </a:solidFill>
          <a:ln w="12700">
            <a:solidFill>
              <a:schemeClr val="accent1"/>
            </a:solidFill>
            <a:prstDash val="solid"/>
          </a:ln>
        </p:spPr>
        <p:txBody>
          <a:bodyPr/>
          <a:lstStyle/>
          <a:p>
            <a:endParaRPr lang="en-GB"/>
          </a:p>
        </p:txBody>
      </p:sp>
      <p:sp>
        <p:nvSpPr>
          <p:cNvPr id="10" name="Phase 3 label"/>
          <p:cNvSpPr txBox="1"/>
          <p:nvPr/>
        </p:nvSpPr>
        <p:spPr>
          <a:xfrm>
            <a:off x="8549640" y="1463040"/>
            <a:ext cx="2697480" cy="822960"/>
          </a:xfrm>
          <a:prstGeom prst="rect">
            <a:avLst/>
          </a:prstGeom>
          <a:noFill/>
          <a:ln/>
        </p:spPr>
        <p:txBody>
          <a:bodyPr wrap="square" lIns="0" tIns="0" rIns="0" bIns="0" rtlCol="0" anchor="ctr"/>
          <a:lstStyle/>
          <a:p>
            <a:pPr marL="0" indent="0">
              <a:buNone/>
            </a:pPr>
            <a:r>
              <a:rPr lang="en-US" sz="1700" b="1" dirty="0">
                <a:solidFill>
                  <a:schemeClr val="bg1"/>
                </a:solidFill>
              </a:rPr>
              <a:t>Scale</a:t>
            </a:r>
            <a:endParaRPr lang="en-US" sz="1700" dirty="0"/>
          </a:p>
          <a:p>
            <a:pPr marL="0" indent="0">
              <a:buNone/>
            </a:pPr>
            <a:r>
              <a:rPr lang="en-US" sz="1300" dirty="0">
                <a:solidFill>
                  <a:schemeClr val="bg1"/>
                </a:solidFill>
              </a:rPr>
              <a:t>Domain waves</a:t>
            </a:r>
            <a:endParaRPr lang="en-US" sz="1700" dirty="0"/>
          </a:p>
        </p:txBody>
      </p:sp>
      <p:sp>
        <p:nvSpPr>
          <p:cNvPr id="11" name="Phase 3 activities"/>
          <p:cNvSpPr txBox="1"/>
          <p:nvPr/>
        </p:nvSpPr>
        <p:spPr>
          <a:xfrm>
            <a:off x="8138160" y="2468880"/>
            <a:ext cx="3291840" cy="1828800"/>
          </a:xfrm>
          <a:prstGeom prst="rect">
            <a:avLst/>
          </a:prstGeom>
          <a:solidFill>
            <a:schemeClr val="bg2"/>
          </a:solidFill>
          <a:ln/>
        </p:spPr>
        <p:txBody>
          <a:bodyPr wrap="square" lIns="177800" tIns="152400" rIns="152400" bIns="127000" rtlCol="0" anchor="t"/>
          <a:lstStyle/>
          <a:p>
            <a:pPr marL="342900" indent="-342900">
              <a:spcAft>
                <a:spcPts val="1000"/>
              </a:spcAft>
              <a:buSzPct val="100000"/>
              <a:buChar char="•"/>
            </a:pPr>
            <a:r>
              <a:rPr lang="en-US" sz="1400" dirty="0">
                <a:solidFill>
                  <a:schemeClr val="tx1"/>
                </a:solidFill>
              </a:rPr>
              <a:t>Add clinical, therapy, research and operations</a:t>
            </a:r>
            <a:endParaRPr lang="en-US" sz="1400" dirty="0"/>
          </a:p>
          <a:p>
            <a:pPr marL="342900" indent="-342900">
              <a:spcAft>
                <a:spcPts val="1000"/>
              </a:spcAft>
              <a:buSzPct val="100000"/>
              <a:buChar char="•"/>
            </a:pPr>
            <a:r>
              <a:rPr lang="en-US" sz="1400" dirty="0">
                <a:solidFill>
                  <a:schemeClr val="tx1"/>
                </a:solidFill>
              </a:rPr>
              <a:t>Industrialize MLOps, LLMOps and governance</a:t>
            </a:r>
            <a:endParaRPr lang="en-US" sz="1400" dirty="0"/>
          </a:p>
          <a:p>
            <a:pPr marL="342900" indent="-342900">
              <a:spcAft>
                <a:spcPts val="1000"/>
              </a:spcAft>
              <a:buSzPct val="100000"/>
              <a:buChar char="•"/>
            </a:pPr>
            <a:r>
              <a:rPr lang="en-US" sz="1400" dirty="0">
                <a:solidFill>
                  <a:schemeClr val="tx1"/>
                </a:solidFill>
              </a:rPr>
              <a:t>Transfer capability to domain teams</a:t>
            </a:r>
            <a:endParaRPr lang="en-US" sz="1400" dirty="0"/>
          </a:p>
        </p:txBody>
      </p:sp>
      <p:sp>
        <p:nvSpPr>
          <p:cNvPr id="12" name="Metrics band"/>
          <p:cNvSpPr/>
          <p:nvPr/>
        </p:nvSpPr>
        <p:spPr>
          <a:xfrm>
            <a:off x="548640" y="4572000"/>
            <a:ext cx="11109960" cy="960120"/>
          </a:xfrm>
          <a:prstGeom prst="rect">
            <a:avLst/>
          </a:prstGeom>
          <a:solidFill>
            <a:schemeClr val="accent3"/>
          </a:solidFill>
          <a:ln w="12700">
            <a:solidFill>
              <a:schemeClr val="accent3"/>
            </a:solidFill>
            <a:prstDash val="solid"/>
          </a:ln>
        </p:spPr>
        <p:txBody>
          <a:bodyPr/>
          <a:lstStyle/>
          <a:p>
            <a:endParaRPr lang="en-GB"/>
          </a:p>
        </p:txBody>
      </p:sp>
      <p:sp>
        <p:nvSpPr>
          <p:cNvPr id="13" name="Metrics label"/>
          <p:cNvSpPr txBox="1"/>
          <p:nvPr/>
        </p:nvSpPr>
        <p:spPr>
          <a:xfrm>
            <a:off x="777240" y="4572000"/>
            <a:ext cx="2377440" cy="960120"/>
          </a:xfrm>
          <a:prstGeom prst="rect">
            <a:avLst/>
          </a:prstGeom>
          <a:noFill/>
          <a:ln/>
        </p:spPr>
        <p:txBody>
          <a:bodyPr wrap="square" lIns="0" tIns="0" rIns="0" bIns="0" rtlCol="0" anchor="ctr"/>
          <a:lstStyle/>
          <a:p>
            <a:pPr marL="0" indent="0">
              <a:buNone/>
            </a:pPr>
            <a:r>
              <a:rPr lang="en-US" sz="1500" b="1" dirty="0">
                <a:solidFill>
                  <a:schemeClr val="accent5"/>
                </a:solidFill>
              </a:rPr>
              <a:t>How we measure success</a:t>
            </a:r>
            <a:endParaRPr lang="en-US" sz="1500" dirty="0"/>
          </a:p>
        </p:txBody>
      </p:sp>
      <p:sp>
        <p:nvSpPr>
          <p:cNvPr id="14" name="Metric 1"/>
          <p:cNvSpPr txBox="1"/>
          <p:nvPr/>
        </p:nvSpPr>
        <p:spPr>
          <a:xfrm>
            <a:off x="3291840" y="4572000"/>
            <a:ext cx="2651760" cy="960120"/>
          </a:xfrm>
          <a:prstGeom prst="rect">
            <a:avLst/>
          </a:prstGeom>
          <a:noFill/>
          <a:ln/>
        </p:spPr>
        <p:txBody>
          <a:bodyPr wrap="square" lIns="0" tIns="0" rIns="0" bIns="0" rtlCol="0" anchor="ctr"/>
          <a:lstStyle/>
          <a:p>
            <a:pPr marL="0" indent="0">
              <a:buNone/>
            </a:pPr>
            <a:r>
              <a:rPr lang="en-US" sz="1600" b="1" dirty="0">
                <a:solidFill>
                  <a:schemeClr val="bg1"/>
                </a:solidFill>
              </a:rPr>
              <a:t>Data product reuse</a:t>
            </a:r>
            <a:endParaRPr lang="en-US" sz="1600" dirty="0"/>
          </a:p>
        </p:txBody>
      </p:sp>
      <p:sp>
        <p:nvSpPr>
          <p:cNvPr id="15" name="Metric 2"/>
          <p:cNvSpPr txBox="1"/>
          <p:nvPr/>
        </p:nvSpPr>
        <p:spPr>
          <a:xfrm>
            <a:off x="5366084" y="4572000"/>
            <a:ext cx="3366436" cy="960120"/>
          </a:xfrm>
          <a:prstGeom prst="rect">
            <a:avLst/>
          </a:prstGeom>
          <a:noFill/>
          <a:ln/>
        </p:spPr>
        <p:txBody>
          <a:bodyPr wrap="square" lIns="0" tIns="0" rIns="0" bIns="0" rtlCol="0" anchor="ctr"/>
          <a:lstStyle/>
          <a:p>
            <a:pPr marL="0" indent="0">
              <a:buNone/>
            </a:pPr>
            <a:r>
              <a:rPr lang="en-US" sz="1600" b="1" dirty="0">
                <a:solidFill>
                  <a:schemeClr val="bg1"/>
                </a:solidFill>
              </a:rPr>
              <a:t>Time to launch new AI use cases</a:t>
            </a:r>
            <a:endParaRPr lang="en-US" sz="1600" dirty="0"/>
          </a:p>
        </p:txBody>
      </p:sp>
      <p:sp>
        <p:nvSpPr>
          <p:cNvPr id="16" name="Metric 3"/>
          <p:cNvSpPr txBox="1"/>
          <p:nvPr/>
        </p:nvSpPr>
        <p:spPr>
          <a:xfrm>
            <a:off x="8869680" y="4572000"/>
            <a:ext cx="2651760" cy="960120"/>
          </a:xfrm>
          <a:prstGeom prst="rect">
            <a:avLst/>
          </a:prstGeom>
          <a:noFill/>
          <a:ln/>
        </p:spPr>
        <p:txBody>
          <a:bodyPr wrap="square" lIns="0" tIns="0" rIns="0" bIns="0" rtlCol="0" anchor="ctr"/>
          <a:lstStyle/>
          <a:p>
            <a:pPr marL="0" indent="0">
              <a:buNone/>
            </a:pPr>
            <a:r>
              <a:rPr lang="en-US" sz="1600" b="1" dirty="0">
                <a:solidFill>
                  <a:schemeClr val="bg1"/>
                </a:solidFill>
              </a:rPr>
              <a:t>Business value and trust realized</a:t>
            </a:r>
            <a:endParaRPr lang="en-US" sz="16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Accenture Purple">
  <a:themeElements>
    <a:clrScheme name="Accenture Purple">
      <a:dk1>
        <a:srgbClr val="000000"/>
      </a:dk1>
      <a:lt1>
        <a:srgbClr val="FFFFFF"/>
      </a:lt1>
      <a:dk2>
        <a:srgbClr val="460073"/>
      </a:dk2>
      <a:lt2>
        <a:srgbClr val="F2F2F2"/>
      </a:lt2>
      <a:accent1>
        <a:srgbClr val="A100FF"/>
      </a:accent1>
      <a:accent2>
        <a:srgbClr val="7500C0"/>
      </a:accent2>
      <a:accent3>
        <a:srgbClr val="460073"/>
      </a:accent3>
      <a:accent4>
        <a:srgbClr val="BE82FF"/>
      </a:accent4>
      <a:accent5>
        <a:srgbClr val="DCAFFF"/>
      </a:accent5>
      <a:accent6>
        <a:srgbClr val="7F7F7F"/>
      </a:accent6>
      <a:hlink>
        <a:srgbClr val="A100FF"/>
      </a:hlink>
      <a:folHlink>
        <a:srgbClr val="7500C0"/>
      </a:folHlink>
    </a:clrScheme>
    <a:fontScheme name="Accenture Purpl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8c6aeda-4040-4623-8326-91265b55fc23}" enabled="1" method="Privileged" siteId="{e0793d39-0939-496d-b129-198edd916feb}" contentBits="0" removed="0"/>
</clbl:labelList>
</file>

<file path=docProps/app.xml><?xml version="1.0" encoding="utf-8"?>
<Properties xmlns="http://schemas.openxmlformats.org/officeDocument/2006/extended-properties" xmlns:vt="http://schemas.openxmlformats.org/officeDocument/2006/docPropsVTypes">
  <TotalTime>0</TotalTime>
  <Words>784</Words>
  <Application>Microsoft Office PowerPoint</Application>
  <PresentationFormat>Widescreen</PresentationFormat>
  <Paragraphs>142</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Accenture Purple</vt:lpstr>
      <vt:lpstr>Data products for AI at scale</vt:lpstr>
      <vt:lpstr>Three client asks, one connected answer</vt:lpstr>
      <vt:lpstr>AI-powered diabetes data products – from evidence to trusted action</vt:lpstr>
      <vt:lpstr>Three tiers of diabetes data products, one set of traits</vt:lpstr>
      <vt:lpstr>A phased path from workshop decisions to AI at scale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products for AI at scale</dc:title>
  <dc:subject>PptxGenJS Presentation</dc:subject>
  <dc:creator>Motsou Wouamba, Dieudonne</dc:creator>
  <cp:lastModifiedBy>Motsou Wouamba, Dieudonne</cp:lastModifiedBy>
  <cp:revision>7</cp:revision>
  <dcterms:created xsi:type="dcterms:W3CDTF">2026-10-08T14:32:53Z</dcterms:created>
  <dcterms:modified xsi:type="dcterms:W3CDTF">2026-10-08T14:42:33Z</dcterms:modified>
</cp:coreProperties>
</file>